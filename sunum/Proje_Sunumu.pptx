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E8DC"/>
    <a:srgbClr val="8B2E3C"/>
    <a:srgbClr val="7A8B7F"/>
    <a:srgbClr val="4A54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2426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2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8B2E3C"/>
          </a:solidFill>
          <a:ln w="12700">
            <a:solidFill>
              <a:srgbClr val="F2E8DC"/>
            </a:solidFill>
            <a:prstDash val="solid"/>
          </a:ln>
        </p:spPr>
        <p:txBody>
          <a:bodyPr/>
          <a:lstStyle/>
          <a:p>
            <a:endParaRPr lang="tr-TR">
              <a:solidFill>
                <a:srgbClr val="4A544D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914400" y="10515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kern="0" spc="30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BIM 322  —  MAKINE </a:t>
            </a:r>
            <a:r>
              <a:rPr lang="tr-TR" sz="1500" kern="0" spc="30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ÖĞRENMESİ</a:t>
            </a:r>
            <a:r>
              <a:rPr lang="en-US" sz="1500" kern="0" spc="30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UYGULAMALARI</a:t>
            </a:r>
            <a:endParaRPr lang="en-US" sz="1500" dirty="0">
              <a:solidFill>
                <a:srgbClr val="F2E8DC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2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Kalp </a:t>
            </a:r>
            <a:r>
              <a:rPr lang="en-US" sz="5200" b="1" dirty="0" err="1">
                <a:solidFill>
                  <a:srgbClr val="F2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Hastal</a:t>
            </a:r>
            <a:r>
              <a:rPr lang="tr-TR" sz="5200" b="1" dirty="0" err="1">
                <a:solidFill>
                  <a:srgbClr val="F2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ığı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743200"/>
            <a:ext cx="10332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2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Tahmin Sistemi</a:t>
            </a:r>
            <a:endParaRPr lang="en-US" sz="52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70248" y="3794760"/>
            <a:ext cx="3657600" cy="4846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4526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Cleveland Veri Seti ile </a:t>
            </a:r>
            <a:r>
              <a:rPr lang="en-US" sz="1700" i="1" dirty="0" err="1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</a:t>
            </a:r>
            <a:r>
              <a:rPr lang="en-US" sz="1700" i="1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700" i="1" dirty="0" err="1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Öğremesi</a:t>
            </a:r>
            <a:r>
              <a:rPr lang="en-US" sz="1700" i="1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700" i="1" dirty="0" err="1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Uygulamas</a:t>
            </a:r>
            <a:r>
              <a:rPr lang="tr-TR" sz="1700" i="1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184648" y="5166360"/>
            <a:ext cx="1828800" cy="0"/>
          </a:xfrm>
          <a:prstGeom prst="line">
            <a:avLst/>
          </a:prstGeom>
          <a:noFill/>
          <a:ln w="19050">
            <a:solidFill>
              <a:srgbClr val="7A8B7F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9" name="Text 6"/>
          <p:cNvSpPr/>
          <p:nvPr/>
        </p:nvSpPr>
        <p:spPr>
          <a:xfrm>
            <a:off x="914400" y="53035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20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Sunumu</a:t>
            </a:r>
            <a:endParaRPr lang="en-US" sz="1300" dirty="0">
              <a:solidFill>
                <a:srgbClr val="F2E8DC"/>
              </a:solidFill>
            </a:endParaRPr>
          </a:p>
        </p:txBody>
      </p:sp>
      <p:cxnSp>
        <p:nvCxnSpPr>
          <p:cNvPr id="14" name="Düz Bağlayıcı 13">
            <a:extLst>
              <a:ext uri="{FF2B5EF4-FFF2-40B4-BE49-F238E27FC236}">
                <a16:creationId xmlns:a16="http://schemas.microsoft.com/office/drawing/2014/main" id="{5C2F878C-EFE1-C312-7BA3-71C5728F03DF}"/>
              </a:ext>
            </a:extLst>
          </p:cNvPr>
          <p:cNvCxnSpPr>
            <a:stCxn id="8" idx="0"/>
            <a:endCxn id="8" idx="1"/>
          </p:cNvCxnSpPr>
          <p:nvPr/>
        </p:nvCxnSpPr>
        <p:spPr>
          <a:xfrm>
            <a:off x="5184648" y="5166360"/>
            <a:ext cx="1828800" cy="1"/>
          </a:xfrm>
          <a:prstGeom prst="line">
            <a:avLst/>
          </a:prstGeom>
          <a:ln>
            <a:solidFill>
              <a:srgbClr val="F2E8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8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solidFill>
            <a:srgbClr val="8B2E3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17320" y="530352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</a:t>
            </a:r>
            <a:r>
              <a:rPr lang="en-US" sz="3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Hakk</a:t>
            </a:r>
            <a:r>
              <a:rPr lang="tr-TR" sz="3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ı</a:t>
            </a:r>
            <a:r>
              <a:rPr lang="en-US" sz="3000" b="1" dirty="0" err="1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nda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 Seti </a:t>
            </a:r>
            <a:r>
              <a:rPr lang="en-US" sz="1900" b="1" dirty="0" err="1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</a:t>
            </a:r>
            <a:r>
              <a:rPr lang="en-US" sz="1900" b="1" dirty="0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Ama</a:t>
            </a:r>
            <a:r>
              <a:rPr lang="tr-TR" sz="1900" b="1" dirty="0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5486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Heart Disease (Cleveland) veri </a:t>
            </a:r>
            <a:r>
              <a:rPr lang="en-US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</a:t>
            </a:r>
            <a:r>
              <a:rPr lang="tr-TR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</a:t>
            </a:r>
            <a:r>
              <a:rPr lang="tr-TR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ış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tr-TR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Veri seti, hastalara ait </a:t>
            </a:r>
            <a:r>
              <a:rPr lang="en-US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</a:t>
            </a:r>
            <a:r>
              <a:rPr lang="tr-TR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tr-TR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</a:t>
            </a:r>
            <a:r>
              <a:rPr lang="en-US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eren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</a:t>
            </a:r>
            <a:r>
              <a:rPr lang="tr-TR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bbi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kay</a:t>
            </a:r>
            <a:r>
              <a:rPr lang="tr-TR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tlardan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</a:t>
            </a:r>
            <a:r>
              <a:rPr lang="tr-TR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</a:t>
            </a:r>
            <a:r>
              <a:rPr lang="en-US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</a:t>
            </a:r>
            <a:r>
              <a:rPr lang="tr-TR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Hastalar</a:t>
            </a:r>
            <a:r>
              <a:rPr lang="tr-TR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klinik verilerini analiz ederek </a:t>
            </a:r>
            <a:r>
              <a:rPr lang="en-US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hastal</a:t>
            </a:r>
            <a:r>
              <a:rPr lang="tr-TR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ığı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riskini </a:t>
            </a:r>
            <a:r>
              <a:rPr lang="en-US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</a:t>
            </a:r>
            <a:r>
              <a:rPr lang="en-US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renmesi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tahmin etmek ve karar destek </a:t>
            </a:r>
            <a:r>
              <a:rPr lang="en-US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</a:t>
            </a:r>
            <a:r>
              <a:rPr lang="tr-TR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</a:t>
            </a:r>
            <a:r>
              <a:rPr lang="en-US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turmakt</a:t>
            </a:r>
            <a:r>
              <a:rPr lang="tr-TR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40080" y="43434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Kullan</a:t>
            </a:r>
            <a:r>
              <a:rPr lang="tr-TR" sz="1600" b="1" dirty="0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ı</a:t>
            </a:r>
            <a:r>
              <a:rPr lang="en-US" sz="1600" b="1" dirty="0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 Ara</a:t>
            </a:r>
            <a:r>
              <a:rPr lang="tr-TR" sz="1600" b="1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</a:t>
            </a:r>
            <a:r>
              <a:rPr lang="en-US" sz="1600" b="1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80060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40080" y="48006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993392" y="480060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1993392" y="48006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46704" y="480060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3346704" y="48006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00016" y="4800600"/>
            <a:ext cx="1234440" cy="502920"/>
          </a:xfrm>
          <a:prstGeom prst="roundRect">
            <a:avLst>
              <a:gd name="adj" fmla="val 14545"/>
            </a:avLst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4700016" y="4800600"/>
            <a:ext cx="1234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20840" y="1645920"/>
            <a:ext cx="2331720" cy="1920240"/>
          </a:xfrm>
          <a:prstGeom prst="rect">
            <a:avLst/>
          </a:prstGeom>
          <a:solidFill>
            <a:srgbClr val="FAF4EC"/>
          </a:solidFill>
          <a:ln w="9525">
            <a:solidFill>
              <a:srgbClr val="7A8B7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6720840" y="1645920"/>
            <a:ext cx="2331720" cy="109728"/>
          </a:xfrm>
          <a:prstGeom prst="rect">
            <a:avLst/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720840" y="1938528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297</a:t>
            </a:r>
            <a:endParaRPr lang="en-US" sz="4400" dirty="0"/>
          </a:p>
        </p:txBody>
      </p:sp>
      <p:sp>
        <p:nvSpPr>
          <p:cNvPr id="20" name="Text 18"/>
          <p:cNvSpPr/>
          <p:nvPr/>
        </p:nvSpPr>
        <p:spPr>
          <a:xfrm>
            <a:off x="6720840" y="2834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Kayd</a:t>
            </a:r>
            <a:r>
              <a:rPr lang="tr-TR" sz="12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326880" y="1645920"/>
            <a:ext cx="2331720" cy="1920240"/>
          </a:xfrm>
          <a:prstGeom prst="rect">
            <a:avLst/>
          </a:prstGeom>
          <a:solidFill>
            <a:srgbClr val="FAF4EC"/>
          </a:solidFill>
          <a:ln w="9525">
            <a:solidFill>
              <a:srgbClr val="7A8B7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2" name="Shape 20"/>
          <p:cNvSpPr/>
          <p:nvPr/>
        </p:nvSpPr>
        <p:spPr>
          <a:xfrm>
            <a:off x="9326880" y="1645920"/>
            <a:ext cx="2331720" cy="109728"/>
          </a:xfrm>
          <a:prstGeom prst="rect">
            <a:avLst/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3" name="Text 21"/>
          <p:cNvSpPr/>
          <p:nvPr/>
        </p:nvSpPr>
        <p:spPr>
          <a:xfrm>
            <a:off x="9326880" y="1938528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9326880" y="2834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 </a:t>
            </a:r>
            <a:r>
              <a:rPr lang="tr-TR" sz="12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12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zellik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720840" y="3886200"/>
            <a:ext cx="2331720" cy="1920240"/>
          </a:xfrm>
          <a:prstGeom prst="rect">
            <a:avLst/>
          </a:prstGeom>
          <a:solidFill>
            <a:srgbClr val="FAF4EC"/>
          </a:solidFill>
          <a:ln w="9525">
            <a:solidFill>
              <a:srgbClr val="7A8B7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6" name="Shape 24"/>
          <p:cNvSpPr/>
          <p:nvPr/>
        </p:nvSpPr>
        <p:spPr>
          <a:xfrm>
            <a:off x="6720840" y="3886200"/>
            <a:ext cx="2331720" cy="109728"/>
          </a:xfrm>
          <a:prstGeom prst="rect">
            <a:avLst/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6720840" y="4178808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6720840" y="5074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</a:t>
            </a:r>
            <a:r>
              <a:rPr lang="en-US" sz="12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Algoritmas</a:t>
            </a:r>
            <a:r>
              <a:rPr lang="tr-TR" sz="12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9326880" y="3886200"/>
            <a:ext cx="2331720" cy="1920240"/>
          </a:xfrm>
          <a:prstGeom prst="rect">
            <a:avLst/>
          </a:prstGeom>
          <a:solidFill>
            <a:srgbClr val="FAF4EC"/>
          </a:solidFill>
          <a:ln w="9525">
            <a:solidFill>
              <a:srgbClr val="7A8B7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Shape 28"/>
          <p:cNvSpPr/>
          <p:nvPr/>
        </p:nvSpPr>
        <p:spPr>
          <a:xfrm>
            <a:off x="9326880" y="3886200"/>
            <a:ext cx="2331720" cy="109728"/>
          </a:xfrm>
          <a:prstGeom prst="rect">
            <a:avLst/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1" name="Text 29"/>
          <p:cNvSpPr/>
          <p:nvPr/>
        </p:nvSpPr>
        <p:spPr>
          <a:xfrm>
            <a:off x="9326880" y="4178808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400" dirty="0"/>
          </a:p>
        </p:txBody>
      </p:sp>
      <p:sp>
        <p:nvSpPr>
          <p:cNvPr id="32" name="Text 30"/>
          <p:cNvSpPr/>
          <p:nvPr/>
        </p:nvSpPr>
        <p:spPr>
          <a:xfrm>
            <a:off x="9326880" y="5074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r>
              <a:rPr lang="tr-TR" sz="12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</a:t>
            </a:r>
            <a:r>
              <a:rPr lang="en-US" sz="12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ilen</a:t>
            </a:r>
            <a:r>
              <a:rPr lang="en-US" sz="12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2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12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zellik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720840" y="5897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A8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Modeller:  KNN  •  Naive Bayes  •  Random Forest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 Hastaligi Tahmin Sistemi  |  BIM 322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8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solidFill>
            <a:srgbClr val="8B2E3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17320" y="530352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r>
              <a:rPr lang="tr-TR" sz="3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</a:t>
            </a:r>
            <a:r>
              <a:rPr lang="en-US" sz="3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 1 — Veri </a:t>
            </a:r>
            <a:r>
              <a:rPr lang="tr-TR" sz="3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</a:t>
            </a:r>
            <a:r>
              <a:rPr lang="en-US" sz="3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 </a:t>
            </a:r>
            <a:r>
              <a:rPr lang="tr-TR" sz="3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İş</a:t>
            </a:r>
            <a:r>
              <a:rPr lang="en-US" sz="3000" b="1" dirty="0" err="1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leme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384048" cy="384048"/>
          </a:xfrm>
          <a:prstGeom prst="ellipse">
            <a:avLst/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8580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52704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'?’ </a:t>
            </a:r>
            <a:r>
              <a:rPr lang="en-US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tr-TR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</a:t>
            </a:r>
            <a:r>
              <a:rPr lang="en-US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aretli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</a:t>
            </a:r>
            <a:r>
              <a:rPr lang="tr-TR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erler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NaN’a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</a:t>
            </a:r>
            <a:r>
              <a:rPr lang="en-US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evrildi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sat</a:t>
            </a:r>
            <a:r>
              <a:rPr lang="tr-TR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ır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 silindi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85800" y="2606040"/>
            <a:ext cx="384048" cy="384048"/>
          </a:xfrm>
          <a:prstGeom prst="ellipse">
            <a:avLst/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44144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ve </a:t>
            </a:r>
            <a:r>
              <a:rPr lang="en-US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</a:t>
            </a:r>
            <a:r>
              <a:rPr lang="tr-TR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tr-TR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</a:t>
            </a:r>
            <a:r>
              <a:rPr lang="en-US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nlari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metinden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say</a:t>
            </a:r>
            <a:r>
              <a:rPr lang="tr-TR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(float) </a:t>
            </a:r>
            <a:r>
              <a:rPr lang="en-US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formata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</a:t>
            </a:r>
            <a:r>
              <a:rPr lang="tr-TR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önüştürüldü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520440"/>
            <a:ext cx="384048" cy="384048"/>
          </a:xfrm>
          <a:prstGeom prst="ellipse">
            <a:avLst/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3" name="Text 11"/>
          <p:cNvSpPr/>
          <p:nvPr/>
        </p:nvSpPr>
        <p:spPr>
          <a:xfrm>
            <a:off x="685800" y="35204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35584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</a:t>
            </a:r>
            <a:r>
              <a:rPr lang="tr-TR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sütünu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ikili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</a:t>
            </a:r>
            <a:r>
              <a:rPr lang="tr-TR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tr-TR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 indirgendi  (0: Saglikli, 1: Hasta)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4434840"/>
            <a:ext cx="384048" cy="384048"/>
          </a:xfrm>
          <a:prstGeom prst="ellipse">
            <a:avLst/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4"/>
          <p:cNvSpPr/>
          <p:nvPr/>
        </p:nvSpPr>
        <p:spPr>
          <a:xfrm>
            <a:off x="685800" y="4434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34440" y="4270248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y</a:t>
            </a:r>
            <a:r>
              <a:rPr lang="tr-TR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ntemi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say</a:t>
            </a:r>
            <a:r>
              <a:rPr lang="tr-TR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degi</a:t>
            </a:r>
            <a:r>
              <a:rPr lang="tr-TR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</a:t>
            </a:r>
            <a:r>
              <a:rPr lang="en-US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kenlerdeki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ayk</a:t>
            </a:r>
            <a:r>
              <a:rPr lang="tr-TR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tr-TR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</a:t>
            </a:r>
            <a:r>
              <a:rPr lang="tr-TR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erler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temizlendi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85800" y="5486400"/>
            <a:ext cx="5532120" cy="777240"/>
          </a:xfrm>
          <a:prstGeom prst="rect">
            <a:avLst/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685800" y="5486400"/>
            <a:ext cx="5532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Temizlik sonucu:  </a:t>
            </a:r>
            <a:r>
              <a:rPr lang="en-US" sz="1700" b="1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297 </a:t>
            </a:r>
            <a:r>
              <a:rPr lang="en-US" sz="130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 →  </a:t>
            </a:r>
            <a:r>
              <a:rPr lang="en-US" sz="1700" b="1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282 </a:t>
            </a:r>
            <a:r>
              <a:rPr lang="en-US" sz="130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0" y="1600200"/>
            <a:ext cx="4983480" cy="4663440"/>
          </a:xfrm>
          <a:prstGeom prst="rect">
            <a:avLst/>
          </a:prstGeom>
          <a:solidFill>
            <a:srgbClr val="DED5C7"/>
          </a:solidFill>
          <a:ln w="12700">
            <a:solidFill>
              <a:srgbClr val="7A8B7F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21" name="Text 19"/>
          <p:cNvSpPr/>
          <p:nvPr/>
        </p:nvSpPr>
        <p:spPr>
          <a:xfrm>
            <a:off x="6583680" y="1600200"/>
            <a:ext cx="4983480" cy="4663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Gorsel: Kutu Grafigi (Aykiri Degerler)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(grafigi buraya ekleyin)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 Hastaligi Tahmin Sistemi  |  BIM 322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25" name="Resim 24">
            <a:extLst>
              <a:ext uri="{FF2B5EF4-FFF2-40B4-BE49-F238E27FC236}">
                <a16:creationId xmlns:a16="http://schemas.microsoft.com/office/drawing/2014/main" id="{212F24AB-8DA8-5F11-65F3-B075F78482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389888"/>
            <a:ext cx="5656340" cy="493775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8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solidFill>
            <a:srgbClr val="8B2E3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17320" y="530352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r>
              <a:rPr lang="tr-TR" sz="3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</a:t>
            </a:r>
            <a:r>
              <a:rPr lang="en-US" sz="3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 2 — </a:t>
            </a:r>
            <a:r>
              <a:rPr lang="tr-TR" sz="3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</a:t>
            </a:r>
            <a:r>
              <a:rPr lang="en-US" sz="3000" b="1" dirty="0" err="1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zellik</a:t>
            </a:r>
            <a:r>
              <a:rPr lang="en-US" sz="3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</a:t>
            </a:r>
            <a:r>
              <a:rPr lang="tr-TR" sz="3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</a:t>
            </a:r>
            <a:r>
              <a:rPr lang="en-US" sz="3000" b="1" dirty="0" err="1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imi</a:t>
            </a:r>
            <a:r>
              <a:rPr lang="en-US" sz="3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ve Normalizasyon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Normalizasyon:  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tr-TR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r>
              <a:rPr lang="tr-TR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ö</a:t>
            </a:r>
            <a:r>
              <a:rPr lang="en-US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zellikler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Min-Max Scaler ile 0-1 </a:t>
            </a:r>
            <a:r>
              <a:rPr lang="en-US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aral</a:t>
            </a:r>
            <a:r>
              <a:rPr lang="tr-TR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ığı</a:t>
            </a:r>
            <a:r>
              <a:rPr lang="en-US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tr-TR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</a:t>
            </a:r>
            <a:r>
              <a:rPr lang="en-US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eklendirildi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3429000" cy="1874520"/>
          </a:xfrm>
          <a:prstGeom prst="rect">
            <a:avLst/>
          </a:prstGeom>
          <a:solidFill>
            <a:srgbClr val="FAF4EC"/>
          </a:solidFill>
          <a:ln w="9525">
            <a:solidFill>
              <a:srgbClr val="7A8B7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3429000" cy="566928"/>
          </a:xfrm>
          <a:prstGeom prst="rect">
            <a:avLst/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050" kern="0" spc="20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</a:t>
            </a:r>
            <a:r>
              <a:rPr lang="en-US" sz="1050" kern="0" spc="20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85292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SelectKBest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331012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F-istatistigi (ANOVA) ile her </a:t>
            </a:r>
            <a:r>
              <a:rPr lang="tr-TR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11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zelli</a:t>
            </a:r>
            <a:r>
              <a:rPr lang="tr-TR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</a:t>
            </a:r>
            <a:r>
              <a:rPr lang="en-US" sz="11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hedefle</a:t>
            </a: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</a:t>
            </a:r>
            <a:r>
              <a:rPr lang="tr-TR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</a:t>
            </a:r>
            <a:r>
              <a:rPr lang="en-US" sz="11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kisi</a:t>
            </a: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puanlan</a:t>
            </a:r>
            <a:r>
              <a:rPr lang="tr-TR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43400" y="2194560"/>
            <a:ext cx="3429000" cy="1874520"/>
          </a:xfrm>
          <a:prstGeom prst="rect">
            <a:avLst/>
          </a:prstGeom>
          <a:solidFill>
            <a:srgbClr val="FAF4EC"/>
          </a:solidFill>
          <a:ln w="9525">
            <a:solidFill>
              <a:srgbClr val="7A8B7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4343400" y="2194560"/>
            <a:ext cx="3429000" cy="566928"/>
          </a:xfrm>
          <a:prstGeom prst="rect">
            <a:avLst/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4526280" y="21945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050" kern="0" spc="20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</a:t>
            </a:r>
            <a:r>
              <a:rPr lang="en-US" sz="1050" kern="0" spc="20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26280" y="285292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RF Importance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26280" y="331012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</a:t>
            </a:r>
            <a:r>
              <a:rPr lang="en-US" sz="11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modelinin</a:t>
            </a: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11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zellik</a:t>
            </a:r>
            <a:r>
              <a:rPr lang="tr-TR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ö</a:t>
            </a:r>
            <a:r>
              <a:rPr lang="en-US" sz="11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</a:t>
            </a: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skorlar</a:t>
            </a:r>
            <a:r>
              <a:rPr lang="tr-TR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kullanilir.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46720" y="2194560"/>
            <a:ext cx="3429000" cy="1874520"/>
          </a:xfrm>
          <a:prstGeom prst="rect">
            <a:avLst/>
          </a:prstGeom>
          <a:solidFill>
            <a:srgbClr val="FAF4EC"/>
          </a:solidFill>
          <a:ln w="9525">
            <a:solidFill>
              <a:srgbClr val="7A8B7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8" name="Shape 16"/>
          <p:cNvSpPr/>
          <p:nvPr/>
        </p:nvSpPr>
        <p:spPr>
          <a:xfrm>
            <a:off x="8046720" y="2194560"/>
            <a:ext cx="3429000" cy="566928"/>
          </a:xfrm>
          <a:prstGeom prst="rect">
            <a:avLst/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9" name="Text 17"/>
          <p:cNvSpPr/>
          <p:nvPr/>
        </p:nvSpPr>
        <p:spPr>
          <a:xfrm>
            <a:off x="8229600" y="219456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tr-TR" sz="1050" kern="0" spc="20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Yöntem</a:t>
            </a:r>
            <a:r>
              <a:rPr lang="en-US" sz="1050" kern="0" spc="20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0" y="285292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RFE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0" y="331012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Feature Elimination </a:t>
            </a:r>
            <a:r>
              <a:rPr lang="en-US" sz="11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</a:t>
            </a: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11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zellikler</a:t>
            </a: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ad</a:t>
            </a:r>
            <a:r>
              <a:rPr lang="tr-TR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ad</a:t>
            </a:r>
            <a:r>
              <a:rPr lang="tr-TR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elenir.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0080" y="44348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700" b="1" dirty="0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Üç</a:t>
            </a:r>
            <a:r>
              <a:rPr lang="en-US" sz="1700" b="1" dirty="0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Y</a:t>
            </a:r>
            <a:r>
              <a:rPr lang="tr-TR" sz="1700" b="1" dirty="0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</a:t>
            </a:r>
            <a:r>
              <a:rPr lang="en-US" sz="1700" b="1" dirty="0" err="1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ntemde</a:t>
            </a:r>
            <a:r>
              <a:rPr lang="en-US" sz="1700" b="1" dirty="0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de </a:t>
            </a:r>
            <a:r>
              <a:rPr lang="tr-TR" sz="1700" b="1" dirty="0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</a:t>
            </a:r>
            <a:r>
              <a:rPr lang="en-US" sz="1700" b="1" dirty="0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 </a:t>
            </a:r>
            <a:r>
              <a:rPr lang="tr-TR" sz="1700" b="1" dirty="0" err="1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Çı</a:t>
            </a:r>
            <a:r>
              <a:rPr lang="en-US" sz="1700" b="1" dirty="0" err="1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kan</a:t>
            </a:r>
            <a:r>
              <a:rPr lang="en-US" sz="1700" b="1" dirty="0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5 </a:t>
            </a:r>
            <a:r>
              <a:rPr lang="en-US" sz="1700" b="1" dirty="0" err="1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Ortak</a:t>
            </a:r>
            <a:r>
              <a:rPr lang="en-US" sz="1700" b="1" dirty="0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tr-TR" sz="1700" b="1" dirty="0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</a:t>
            </a:r>
            <a:r>
              <a:rPr lang="en-US" sz="1700" b="1" dirty="0" err="1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zellik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960120" y="502920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8B2E3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4" name="Text 22"/>
          <p:cNvSpPr/>
          <p:nvPr/>
        </p:nvSpPr>
        <p:spPr>
          <a:xfrm>
            <a:off x="960120" y="513892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thalach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60120" y="552297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Maks. </a:t>
            </a:r>
            <a:r>
              <a:rPr lang="en-US" sz="1000" dirty="0" err="1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</a:t>
            </a:r>
            <a:r>
              <a:rPr lang="en-US" sz="10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</a:t>
            </a:r>
            <a:r>
              <a:rPr lang="tr-TR" sz="1000" dirty="0" err="1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ızı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099816" y="502920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8B2E3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27" name="Text 25"/>
          <p:cNvSpPr/>
          <p:nvPr/>
        </p:nvSpPr>
        <p:spPr>
          <a:xfrm>
            <a:off x="3099816" y="513892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099816" y="552297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Damar </a:t>
            </a:r>
            <a:r>
              <a:rPr lang="tr-TR" sz="10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sayısı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239512" y="502920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8B2E3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0" name="Text 28"/>
          <p:cNvSpPr/>
          <p:nvPr/>
        </p:nvSpPr>
        <p:spPr>
          <a:xfrm>
            <a:off x="5239512" y="513892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239512" y="552297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Talasemi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379208" y="502920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8B2E3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3" name="Text 31"/>
          <p:cNvSpPr/>
          <p:nvPr/>
        </p:nvSpPr>
        <p:spPr>
          <a:xfrm>
            <a:off x="7379208" y="513892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379208" y="552297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0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Göğüs</a:t>
            </a:r>
            <a:r>
              <a:rPr lang="en-US" sz="10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</a:t>
            </a:r>
            <a:r>
              <a:rPr lang="tr-TR" sz="10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10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tr-TR" sz="10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ısı</a:t>
            </a:r>
            <a:r>
              <a:rPr lang="en-US" sz="10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tipi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518904" y="5029200"/>
            <a:ext cx="1874520" cy="960120"/>
          </a:xfrm>
          <a:prstGeom prst="roundRect">
            <a:avLst>
              <a:gd name="adj" fmla="val 9524"/>
            </a:avLst>
          </a:prstGeom>
          <a:solidFill>
            <a:srgbClr val="8B2E3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36" name="Text 34"/>
          <p:cNvSpPr/>
          <p:nvPr/>
        </p:nvSpPr>
        <p:spPr>
          <a:xfrm>
            <a:off x="9518904" y="513892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oldpeak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518904" y="552297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</a:t>
            </a:r>
            <a:r>
              <a:rPr lang="tr-TR" sz="10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çökmesi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 Hastaligi Tahmin Sistemi  |  BIM 322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8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solidFill>
            <a:srgbClr val="8B2E3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17320" y="530352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r>
              <a:rPr lang="tr-TR" sz="3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</a:t>
            </a:r>
            <a:r>
              <a:rPr lang="en-US" sz="3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 3 — Modelleme </a:t>
            </a:r>
            <a:r>
              <a:rPr lang="en-US" sz="3000" b="1" dirty="0" err="1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</a:t>
            </a:r>
            <a:r>
              <a:rPr lang="en-US" sz="3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Karma</a:t>
            </a:r>
            <a:r>
              <a:rPr lang="tr-TR" sz="3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şıklık</a:t>
            </a:r>
            <a:r>
              <a:rPr lang="en-US" sz="3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Matrisleri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6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ayrimi:  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%80 E</a:t>
            </a:r>
            <a:r>
              <a:rPr lang="tr-TR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itim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%20 Test.  </a:t>
            </a:r>
            <a:r>
              <a:rPr lang="tr-TR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farkli </a:t>
            </a:r>
            <a:r>
              <a:rPr lang="en-US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makine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</a:t>
            </a:r>
            <a:r>
              <a:rPr lang="en-US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renmesi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algoritmas</a:t>
            </a:r>
            <a:r>
              <a:rPr lang="tr-TR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 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tr-TR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145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itildi</a:t>
            </a: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148840"/>
            <a:ext cx="3429000" cy="914400"/>
          </a:xfrm>
          <a:prstGeom prst="rect">
            <a:avLst/>
          </a:prstGeom>
          <a:solidFill>
            <a:srgbClr val="8B2E3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8" name="Text 6"/>
          <p:cNvSpPr/>
          <p:nvPr/>
        </p:nvSpPr>
        <p:spPr>
          <a:xfrm>
            <a:off x="822960" y="22128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261518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K-En Yak</a:t>
            </a:r>
            <a:r>
              <a:rPr lang="tr-TR" sz="105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05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Kom</a:t>
            </a:r>
            <a:r>
              <a:rPr lang="tr-TR" sz="105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</a:t>
            </a:r>
            <a:r>
              <a:rPr lang="en-US" sz="105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(K=5)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2148840"/>
            <a:ext cx="3429000" cy="914400"/>
          </a:xfrm>
          <a:prstGeom prst="rect">
            <a:avLst/>
          </a:prstGeom>
          <a:solidFill>
            <a:srgbClr val="8B2E3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4526280" y="22128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Naive Bayes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26280" y="261518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NB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2148840"/>
            <a:ext cx="3429000" cy="914400"/>
          </a:xfrm>
          <a:prstGeom prst="rect">
            <a:avLst/>
          </a:prstGeom>
          <a:solidFill>
            <a:srgbClr val="8B2E3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8229600" y="22128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2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229600" y="2615184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Topluluk</a:t>
            </a:r>
            <a:r>
              <a:rPr lang="en-US" sz="105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</a:t>
            </a:r>
            <a:r>
              <a:rPr lang="tr-TR" sz="105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105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tr-TR" sz="105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</a:t>
            </a:r>
            <a:r>
              <a:rPr lang="en-US" sz="105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</a:t>
            </a:r>
            <a:r>
              <a:rPr lang="tr-TR" sz="105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 Hastaligi Tahmin Sistemi  |  BIM 322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21" name="Resim 20">
            <a:extLst>
              <a:ext uri="{FF2B5EF4-FFF2-40B4-BE49-F238E27FC236}">
                <a16:creationId xmlns:a16="http://schemas.microsoft.com/office/drawing/2014/main" id="{08107E8A-E145-4EF3-BC03-4F07ECC499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10"/>
          <a:stretch>
            <a:fillRect/>
          </a:stretch>
        </p:blipFill>
        <p:spPr>
          <a:xfrm>
            <a:off x="640080" y="3291840"/>
            <a:ext cx="3429000" cy="2999232"/>
          </a:xfrm>
          <a:prstGeom prst="rect">
            <a:avLst/>
          </a:prstGeom>
        </p:spPr>
      </p:pic>
      <p:pic>
        <p:nvPicPr>
          <p:cNvPr id="28" name="Resim 27">
            <a:extLst>
              <a:ext uri="{FF2B5EF4-FFF2-40B4-BE49-F238E27FC236}">
                <a16:creationId xmlns:a16="http://schemas.microsoft.com/office/drawing/2014/main" id="{3FDCBDE1-445B-66E2-4CB4-77FD7D4EE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3291840"/>
            <a:ext cx="3429000" cy="2999232"/>
          </a:xfrm>
          <a:prstGeom prst="rect">
            <a:avLst/>
          </a:prstGeom>
        </p:spPr>
      </p:pic>
      <p:pic>
        <p:nvPicPr>
          <p:cNvPr id="30" name="Resim 29">
            <a:extLst>
              <a:ext uri="{FF2B5EF4-FFF2-40B4-BE49-F238E27FC236}">
                <a16:creationId xmlns:a16="http://schemas.microsoft.com/office/drawing/2014/main" id="{271C3A81-BC3D-FF18-CEDF-A1727B320C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1" y="3291840"/>
            <a:ext cx="3429000" cy="299923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8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solidFill>
            <a:srgbClr val="8B2E3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17320" y="530352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r>
              <a:rPr lang="tr-TR" sz="3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</a:t>
            </a:r>
            <a:r>
              <a:rPr lang="en-US" sz="3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 4 — Model De</a:t>
            </a:r>
            <a:r>
              <a:rPr lang="tr-TR" sz="3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ğ</a:t>
            </a:r>
            <a:r>
              <a:rPr lang="en-US" sz="3000" b="1" dirty="0" err="1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erlendirme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48132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tr-TR" sz="13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1300" i="1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itim</a:t>
            </a:r>
            <a:r>
              <a:rPr lang="en-US" sz="13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do</a:t>
            </a:r>
            <a:r>
              <a:rPr lang="tr-TR" sz="13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1300" i="1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rulama</a:t>
            </a:r>
            <a:r>
              <a:rPr lang="en-US" sz="13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(5-kat </a:t>
            </a:r>
            <a:r>
              <a:rPr lang="tr-TR" sz="13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</a:t>
            </a:r>
            <a:r>
              <a:rPr lang="en-US" sz="1300" i="1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apraz</a:t>
            </a:r>
            <a:r>
              <a:rPr lang="en-US" sz="13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</a:t>
            </a:r>
            <a:r>
              <a:rPr lang="tr-TR" sz="13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1300" i="1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rulama</a:t>
            </a:r>
            <a:r>
              <a:rPr lang="en-US" sz="13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ve test setlerinde performans metrikleri: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371825"/>
              </p:ext>
            </p:extLst>
          </p:nvPr>
        </p:nvGraphicFramePr>
        <p:xfrm>
          <a:off x="640080" y="2011680"/>
          <a:ext cx="10927080" cy="338328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568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>
                          <a:solidFill>
                            <a:srgbClr val="F2E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>
                          <a:solidFill>
                            <a:srgbClr val="F2E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 Seti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>
                          <a:solidFill>
                            <a:srgbClr val="F2E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</a:t>
                      </a:r>
                      <a:r>
                        <a:rPr lang="tr-TR" sz="1250" b="1">
                          <a:solidFill>
                            <a:srgbClr val="F2E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ğ</a:t>
                      </a:r>
                      <a:r>
                        <a:rPr lang="en-US" sz="1250" b="1">
                          <a:solidFill>
                            <a:srgbClr val="F2E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ruluk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>
                          <a:solidFill>
                            <a:srgbClr val="F2E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Hassasiyet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4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>
                          <a:solidFill>
                            <a:srgbClr val="F2E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Duyarl</a:t>
                      </a:r>
                      <a:r>
                        <a:rPr lang="tr-TR" sz="1250" b="1">
                          <a:solidFill>
                            <a:srgbClr val="F2E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ılı</a:t>
                      </a:r>
                      <a:r>
                        <a:rPr lang="en-US" sz="1250" b="1">
                          <a:solidFill>
                            <a:srgbClr val="F2E8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D24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(K=5)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tr-TR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Eğitim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84.00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85.56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77.00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(K=5)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tr-TR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Doğrulama</a:t>
                      </a: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(5-CV)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77.78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79.19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71.00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 (K=5)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91.23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92.59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89.29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>
                          <a:solidFill>
                            <a:srgbClr val="6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7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tr-TR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Eğitim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7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6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82.67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7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6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82.80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7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6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77.00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7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>
                          <a:solidFill>
                            <a:srgbClr val="6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7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tr-TR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Doğrulama</a:t>
                      </a:r>
                      <a:r>
                        <a:rPr lang="en-US" sz="1150" dirty="0">
                          <a:solidFill>
                            <a:srgbClr val="6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(5-CV)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7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6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82.67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7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6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84.11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7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6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77.00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7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>
                          <a:solidFill>
                            <a:srgbClr val="6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7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6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7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6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94.74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7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6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96.30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7D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>
                          <a:solidFill>
                            <a:srgbClr val="6D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92.86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D7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tr-TR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Eğitim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99.56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100.00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99.00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tr-TR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Doğrulama</a:t>
                      </a: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(5-CV)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74.22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73.63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69.00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91.23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92.59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89.29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4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40080" y="5623560"/>
            <a:ext cx="274320" cy="502920"/>
          </a:xfrm>
          <a:prstGeom prst="rect">
            <a:avLst/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Text 6"/>
          <p:cNvSpPr/>
          <p:nvPr/>
        </p:nvSpPr>
        <p:spPr>
          <a:xfrm>
            <a:off x="1051560" y="55778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200" b="1" dirty="0">
                <a:solidFill>
                  <a:srgbClr val="6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İyi </a:t>
            </a:r>
            <a:r>
              <a:rPr lang="en-US" sz="1200" b="1" dirty="0">
                <a:solidFill>
                  <a:srgbClr val="6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Model: 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—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</a:t>
            </a:r>
            <a:r>
              <a:rPr lang="tr-TR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ksek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 do</a:t>
            </a:r>
            <a:r>
              <a:rPr lang="tr-TR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rulu</a:t>
            </a:r>
            <a:r>
              <a:rPr lang="tr-TR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(%94.74)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</a:t>
            </a:r>
            <a:r>
              <a:rPr lang="tr-TR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itim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</a:t>
            </a:r>
            <a:r>
              <a:rPr lang="tr-TR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rulama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skorlar</a:t>
            </a:r>
            <a:r>
              <a:rPr lang="tr-TR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birbirine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yak</a:t>
            </a:r>
            <a:r>
              <a:rPr lang="tr-TR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(a</a:t>
            </a:r>
            <a:r>
              <a:rPr lang="tr-TR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şırı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renme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yok).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 Hastaligi Tahmin Sistemi  |  BIM 322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8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solidFill>
            <a:srgbClr val="8B2E3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17320" y="530352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r>
              <a:rPr lang="tr-TR" sz="3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ö</a:t>
            </a:r>
            <a:r>
              <a:rPr lang="en-US" sz="3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 4 — ROC Analizi (Naive Bayes)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355080" y="1600200"/>
            <a:ext cx="5212080" cy="4617720"/>
          </a:xfrm>
          <a:prstGeom prst="rect">
            <a:avLst/>
          </a:prstGeom>
          <a:solidFill>
            <a:srgbClr val="DED5C7"/>
          </a:solidFill>
          <a:ln w="12700">
            <a:solidFill>
              <a:srgbClr val="7A8B7F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355080" y="1600200"/>
            <a:ext cx="5212080" cy="4617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Gorsel: ROC Egrisi (Egitim vs Test)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(grafigi buraya ekleyin)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5349240" cy="1234440"/>
          </a:xfrm>
          <a:prstGeom prst="rect">
            <a:avLst/>
          </a:prstGeom>
          <a:solidFill>
            <a:srgbClr val="FAF4EC"/>
          </a:solidFill>
          <a:ln w="9525">
            <a:solidFill>
              <a:srgbClr val="7A8B7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128016" cy="1234440"/>
          </a:xfrm>
          <a:prstGeom prst="rect">
            <a:avLst/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960120" y="185623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— </a:t>
            </a:r>
            <a:r>
              <a:rPr lang="tr-TR" sz="13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Eğitim</a:t>
            </a:r>
            <a:r>
              <a:rPr lang="en-US" sz="13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Verisi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0" y="1691640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0.872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640080" y="3108960"/>
            <a:ext cx="5349240" cy="1234440"/>
          </a:xfrm>
          <a:prstGeom prst="rect">
            <a:avLst/>
          </a:prstGeom>
          <a:solidFill>
            <a:srgbClr val="FAF4EC"/>
          </a:solidFill>
          <a:ln w="9525">
            <a:solidFill>
              <a:srgbClr val="7A8B7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3" name="Shape 11"/>
          <p:cNvSpPr/>
          <p:nvPr/>
        </p:nvSpPr>
        <p:spPr>
          <a:xfrm>
            <a:off x="640080" y="3108960"/>
            <a:ext cx="128016" cy="1234440"/>
          </a:xfrm>
          <a:prstGeom prst="rect">
            <a:avLst/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960120" y="32735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— Test Verisi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931920" y="3108960"/>
            <a:ext cx="1920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0.989</a:t>
            </a:r>
            <a:endParaRPr lang="en-US" sz="4000" dirty="0"/>
          </a:p>
        </p:txBody>
      </p:sp>
      <p:sp>
        <p:nvSpPr>
          <p:cNvPr id="16" name="Shape 14"/>
          <p:cNvSpPr/>
          <p:nvPr/>
        </p:nvSpPr>
        <p:spPr>
          <a:xfrm>
            <a:off x="640080" y="4663440"/>
            <a:ext cx="5349240" cy="1554480"/>
          </a:xfrm>
          <a:prstGeom prst="rect">
            <a:avLst/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868680" y="4828032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Yorum</a:t>
            </a:r>
            <a:endParaRPr lang="en-US" sz="1400" dirty="0"/>
          </a:p>
          <a:p>
            <a:pPr marL="0" indent="0">
              <a:lnSpc>
                <a:spcPct val="110000"/>
              </a:lnSpc>
              <a:buNone/>
            </a:pPr>
            <a:r>
              <a:rPr lang="tr-TR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Yüksek</a:t>
            </a:r>
            <a:r>
              <a:rPr lang="en-US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AUC de</a:t>
            </a:r>
            <a:r>
              <a:rPr lang="tr-TR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1150" dirty="0" err="1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erleri</a:t>
            </a:r>
            <a:r>
              <a:rPr lang="en-US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modelin hasta </a:t>
            </a:r>
            <a:r>
              <a:rPr lang="en-US" sz="1150" dirty="0" err="1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</a:t>
            </a:r>
            <a:r>
              <a:rPr lang="en-US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</a:t>
            </a:r>
            <a:r>
              <a:rPr lang="tr-TR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tr-TR" sz="1150" dirty="0" err="1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ıklı</a:t>
            </a:r>
            <a:r>
              <a:rPr lang="en-US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</a:t>
            </a:r>
            <a:r>
              <a:rPr lang="tr-TR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tr-TR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150" dirty="0" err="1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flar</a:t>
            </a:r>
            <a:r>
              <a:rPr lang="tr-TR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tr-TR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 </a:t>
            </a:r>
            <a:r>
              <a:rPr lang="en-US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r>
              <a:rPr lang="tr-TR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üç</a:t>
            </a:r>
            <a:r>
              <a:rPr lang="en-US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r>
              <a:rPr lang="tr-TR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</a:t>
            </a:r>
            <a:r>
              <a:rPr lang="en-US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</a:t>
            </a:r>
            <a:r>
              <a:rPr lang="en-US" sz="1150" dirty="0" err="1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ekilde</a:t>
            </a:r>
            <a:r>
              <a:rPr lang="en-US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ayırdığını</a:t>
            </a:r>
            <a:r>
              <a:rPr lang="en-US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150" dirty="0" err="1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gösteriri</a:t>
            </a:r>
            <a:r>
              <a:rPr lang="en-US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</a:t>
            </a:r>
            <a:r>
              <a:rPr lang="tr-TR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1150" dirty="0" err="1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itim</a:t>
            </a:r>
            <a:r>
              <a:rPr lang="en-US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test e</a:t>
            </a:r>
            <a:r>
              <a:rPr lang="tr-TR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1150" dirty="0" err="1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rilerinin</a:t>
            </a:r>
            <a:r>
              <a:rPr lang="en-US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yak</a:t>
            </a:r>
            <a:r>
              <a:rPr lang="tr-TR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150" dirty="0" err="1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</a:t>
            </a:r>
            <a:r>
              <a:rPr lang="tr-TR" sz="1150" dirty="0" err="1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ığı</a:t>
            </a:r>
            <a:r>
              <a:rPr lang="en-US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</a:t>
            </a:r>
            <a:r>
              <a:rPr lang="tr-TR" sz="1150" dirty="0" err="1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şırı</a:t>
            </a:r>
            <a:r>
              <a:rPr lang="en-US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150" dirty="0" err="1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</a:t>
            </a:r>
            <a:r>
              <a:rPr lang="en-US" sz="1150" dirty="0" err="1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renme</a:t>
            </a:r>
            <a:r>
              <a:rPr lang="en-US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olmad</a:t>
            </a:r>
            <a:r>
              <a:rPr lang="tr-TR" sz="1150" dirty="0" err="1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ığını</a:t>
            </a:r>
            <a:r>
              <a:rPr lang="en-US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</a:t>
            </a:r>
            <a:r>
              <a:rPr lang="tr-TR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1150" dirty="0" err="1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rular</a:t>
            </a:r>
            <a:r>
              <a:rPr lang="en-US" sz="1150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 Hastaligi Tahmin Sistemi  |  BIM 322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pic>
        <p:nvPicPr>
          <p:cNvPr id="21" name="Resim 20">
            <a:extLst>
              <a:ext uri="{FF2B5EF4-FFF2-40B4-BE49-F238E27FC236}">
                <a16:creationId xmlns:a16="http://schemas.microsoft.com/office/drawing/2014/main" id="{E174CCE2-698C-83D5-B38C-D0C2D3D959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55"/>
          <a:stretch>
            <a:fillRect/>
          </a:stretch>
        </p:blipFill>
        <p:spPr>
          <a:xfrm>
            <a:off x="6355080" y="1600201"/>
            <a:ext cx="5291644" cy="468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8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solidFill>
            <a:srgbClr val="8B2E3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17320" y="530352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Kara Kutu </a:t>
            </a:r>
            <a:r>
              <a:rPr lang="tr-TR" sz="3000" b="1" dirty="0" err="1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Açıklabilirliği</a:t>
            </a:r>
            <a:r>
              <a:rPr lang="en-US" sz="3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SHAP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5532120" cy="4617720"/>
          </a:xfrm>
          <a:prstGeom prst="rect">
            <a:avLst/>
          </a:prstGeom>
          <a:solidFill>
            <a:srgbClr val="DED5C7"/>
          </a:solidFill>
          <a:ln w="12700">
            <a:solidFill>
              <a:srgbClr val="7A8B7F"/>
            </a:solidFill>
            <a:prstDash val="dash"/>
          </a:ln>
        </p:spPr>
        <p:txBody>
          <a:bodyPr/>
          <a:lstStyle/>
          <a:p>
            <a:endParaRPr lang="tr-TR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5532120" cy="4617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Gorsel: SHAP Ozet Grafigi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(grafigi buraya ekleyin)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37960" y="16459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</a:t>
            </a:r>
            <a:r>
              <a:rPr lang="en-US" sz="1800" b="1" dirty="0" err="1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Kararlar</a:t>
            </a:r>
            <a:r>
              <a:rPr lang="tr-TR" sz="1800" b="1" dirty="0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ı</a:t>
            </a:r>
            <a:r>
              <a:rPr lang="en-US" sz="1800" b="1" dirty="0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Nas</a:t>
            </a:r>
            <a:r>
              <a:rPr lang="tr-TR" sz="1800" b="1" dirty="0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ı</a:t>
            </a:r>
            <a:r>
              <a:rPr lang="en-US" sz="1800" b="1" dirty="0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 </a:t>
            </a:r>
            <a:r>
              <a:rPr lang="tr-TR" sz="1800" b="1" dirty="0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Açıklanıyor</a:t>
            </a:r>
            <a:r>
              <a:rPr lang="en-US" sz="1800" b="1" dirty="0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37960" y="21488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y</a:t>
            </a:r>
            <a:r>
              <a:rPr lang="tr-TR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ntemi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tr-TR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iyi 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Naive Bayes'in her tahmininde hangi </a:t>
            </a:r>
            <a:r>
              <a:rPr lang="tr-TR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zelli</a:t>
            </a:r>
            <a:r>
              <a:rPr lang="tr-TR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ne kadar </a:t>
            </a:r>
            <a:r>
              <a:rPr lang="en-US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etkili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oldu</a:t>
            </a:r>
            <a:r>
              <a:rPr lang="tr-TR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say</a:t>
            </a:r>
            <a:r>
              <a:rPr lang="tr-TR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3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</a:t>
            </a: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olarak ortaya koyar.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537960" y="3200400"/>
            <a:ext cx="365760" cy="365760"/>
          </a:xfrm>
          <a:prstGeom prst="ellipse">
            <a:avLst/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1" name="Text 9"/>
          <p:cNvSpPr/>
          <p:nvPr/>
        </p:nvSpPr>
        <p:spPr>
          <a:xfrm>
            <a:off x="653796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310896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6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 — Talasemi
</a:t>
            </a: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</a:t>
            </a:r>
            <a:r>
              <a:rPr lang="tr-TR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</a:t>
            </a:r>
            <a:r>
              <a:rPr lang="en-US" sz="11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zerinde</a:t>
            </a: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</a:t>
            </a:r>
            <a:r>
              <a:rPr lang="tr-TR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</a:t>
            </a:r>
            <a:r>
              <a:rPr lang="en-US" sz="11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ksek</a:t>
            </a: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etkiye </a:t>
            </a:r>
            <a:r>
              <a:rPr lang="en-US" sz="11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sahip</a:t>
            </a: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11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zellik</a:t>
            </a: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37960" y="4224528"/>
            <a:ext cx="365760" cy="365760"/>
          </a:xfrm>
          <a:prstGeom prst="ellipse">
            <a:avLst/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537960" y="4224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40880" y="413308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6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— Damar Sayisi
</a:t>
            </a:r>
            <a:r>
              <a:rPr lang="en-US" sz="11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Etki</a:t>
            </a: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</a:t>
            </a:r>
            <a:r>
              <a:rPr lang="tr-TR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1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ralamasinda</a:t>
            </a: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ikinci </a:t>
            </a:r>
            <a:r>
              <a:rPr lang="en-US" sz="11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11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nemli</a:t>
            </a: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11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zellik</a:t>
            </a: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37960" y="5248656"/>
            <a:ext cx="365760" cy="365760"/>
          </a:xfrm>
          <a:prstGeom prst="ellipse">
            <a:avLst/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7" name="Text 15"/>
          <p:cNvSpPr/>
          <p:nvPr/>
        </p:nvSpPr>
        <p:spPr>
          <a:xfrm>
            <a:off x="6537960" y="5248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40880" y="5157216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6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Yonu
</a:t>
            </a: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r>
              <a:rPr lang="tr-TR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</a:t>
            </a:r>
            <a:r>
              <a:rPr lang="en-US" sz="11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ksek</a:t>
            </a: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thal ve ca de</a:t>
            </a:r>
            <a:r>
              <a:rPr lang="tr-TR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11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erleri</a:t>
            </a: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hastal</a:t>
            </a:r>
            <a:r>
              <a:rPr lang="tr-TR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</a:t>
            </a:r>
            <a:r>
              <a:rPr lang="en-US" sz="11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riskini</a:t>
            </a: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art</a:t>
            </a:r>
            <a:r>
              <a:rPr lang="tr-TR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tr-TR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1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 Hastaligi Tahmin Sistemi  |  BIM 322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pic>
        <p:nvPicPr>
          <p:cNvPr id="22" name="Resim 21">
            <a:extLst>
              <a:ext uri="{FF2B5EF4-FFF2-40B4-BE49-F238E27FC236}">
                <a16:creationId xmlns:a16="http://schemas.microsoft.com/office/drawing/2014/main" id="{34305565-AA55-3E21-4016-3772E7B487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85"/>
          <a:stretch>
            <a:fillRect/>
          </a:stretch>
        </p:blipFill>
        <p:spPr>
          <a:xfrm>
            <a:off x="624840" y="1573276"/>
            <a:ext cx="5589589" cy="468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8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3" name="Shape 1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solidFill>
            <a:srgbClr val="8B2E3C"/>
          </a:solidFill>
          <a:ln/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4" name="Text 2"/>
          <p:cNvSpPr/>
          <p:nvPr/>
        </p:nvSpPr>
        <p:spPr>
          <a:xfrm>
            <a:off x="640080" y="5669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17320" y="530352"/>
            <a:ext cx="10058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3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Canlıya</a:t>
            </a:r>
            <a:r>
              <a:rPr lang="en-US" sz="30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Alma — Streamlit Web </a:t>
            </a:r>
            <a:r>
              <a:rPr lang="en-US" sz="3000" b="1" dirty="0" err="1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Aray</a:t>
            </a:r>
            <a:r>
              <a:rPr lang="tr-TR" sz="3000" b="1" dirty="0" err="1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üzü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bir web uygulamasi </a:t>
            </a:r>
            <a:r>
              <a:rPr lang="en-US" sz="14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olarak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</a:t>
            </a:r>
            <a:r>
              <a:rPr lang="tr-TR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4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</a:t>
            </a:r>
            <a:r>
              <a:rPr lang="tr-TR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4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r>
              <a:rPr lang="tr-TR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4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</a:t>
            </a:r>
            <a:r>
              <a:rPr lang="tr-TR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tr-TR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bulgular</a:t>
            </a:r>
            <a:r>
              <a:rPr lang="tr-TR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girer, </a:t>
            </a:r>
            <a:r>
              <a:rPr lang="en-US" sz="14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</a:t>
            </a:r>
            <a:r>
              <a:rPr lang="tr-TR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4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</a:t>
            </a: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risk tahmini yapar.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60604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 err="1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Kullan</a:t>
            </a:r>
            <a:r>
              <a:rPr lang="tr-TR" sz="1500" b="1" dirty="0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ı</a:t>
            </a:r>
            <a:r>
              <a:rPr lang="en-US" sz="1500" b="1" dirty="0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r>
              <a:rPr lang="tr-TR" sz="1500" b="1" dirty="0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ı</a:t>
            </a:r>
            <a:r>
              <a:rPr lang="en-US" sz="1500" b="1" dirty="0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dan Al</a:t>
            </a:r>
            <a:r>
              <a:rPr lang="tr-TR" sz="1500" b="1" dirty="0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ı</a:t>
            </a:r>
            <a:r>
              <a:rPr lang="en-US" sz="1500" b="1" dirty="0">
                <a:solidFill>
                  <a:srgbClr val="6D24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nan 5 Klinik Bulgu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521208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thalach — Maksimum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hızı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— Renkli floroskopi damar say</a:t>
            </a:r>
            <a:r>
              <a:rPr lang="tr-TR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ısı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 —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Talasemi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</a:t>
            </a:r>
            <a:r>
              <a:rPr lang="tr-TR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— G</a:t>
            </a:r>
            <a:r>
              <a:rPr lang="tr-TR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öğüs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ağrısı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tipi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oldpeak —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Egzersize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bagl</a:t>
            </a:r>
            <a:r>
              <a:rPr lang="tr-TR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 </a:t>
            </a:r>
            <a:r>
              <a:rPr lang="tr-TR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</a:t>
            </a:r>
            <a:r>
              <a:rPr lang="en-US" sz="1200" dirty="0" err="1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kmesi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4983480"/>
            <a:ext cx="5349240" cy="1143000"/>
          </a:xfrm>
          <a:prstGeom prst="rect">
            <a:avLst/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8"/>
          <p:cNvSpPr/>
          <p:nvPr/>
        </p:nvSpPr>
        <p:spPr>
          <a:xfrm>
            <a:off x="868680" y="5138928"/>
            <a:ext cx="4892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500"/>
              </a:spcAft>
              <a:buNone/>
            </a:pPr>
            <a:r>
              <a:rPr lang="tr-TR" sz="11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Çalıştırma</a:t>
            </a:r>
            <a:r>
              <a:rPr lang="en-US" sz="11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komutu</a:t>
            </a:r>
            <a:endParaRPr lang="en-US" sz="11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2E8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app.py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0" y="1600200"/>
            <a:ext cx="5166360" cy="4617720"/>
          </a:xfrm>
          <a:prstGeom prst="rect">
            <a:avLst/>
          </a:prstGeom>
          <a:solidFill>
            <a:srgbClr val="FAF4EC"/>
          </a:solidFill>
          <a:ln w="9525">
            <a:solidFill>
              <a:srgbClr val="7A8B7F"/>
            </a:solidFill>
            <a:prstDash val="solid"/>
          </a:ln>
          <a:effectLst>
            <a:outerShdw blurRad="88900" dist="38100" dir="81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tr-TR"/>
          </a:p>
        </p:txBody>
      </p:sp>
      <p:sp>
        <p:nvSpPr>
          <p:cNvPr id="12" name="Text 10"/>
          <p:cNvSpPr/>
          <p:nvPr/>
        </p:nvSpPr>
        <p:spPr>
          <a:xfrm>
            <a:off x="6400800" y="182880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Uygulama</a:t>
            </a:r>
            <a:r>
              <a:rPr lang="en-US" sz="16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r>
              <a:rPr lang="tr-TR" sz="1600" b="1" dirty="0">
                <a:solidFill>
                  <a:srgbClr val="8B2E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Akışı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720840" y="2423160"/>
            <a:ext cx="411480" cy="411480"/>
          </a:xfrm>
          <a:prstGeom prst="ellipse">
            <a:avLst/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4" name="Text 12"/>
          <p:cNvSpPr/>
          <p:nvPr/>
        </p:nvSpPr>
        <p:spPr>
          <a:xfrm>
            <a:off x="6720840" y="24231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69480" y="231343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 err="1">
                <a:solidFill>
                  <a:srgbClr val="6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Bulgu</a:t>
            </a:r>
            <a:r>
              <a:rPr lang="en-US" sz="1250" b="1" dirty="0">
                <a:solidFill>
                  <a:srgbClr val="6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Giri</a:t>
            </a:r>
            <a:r>
              <a:rPr lang="tr-TR" sz="1250" b="1" dirty="0">
                <a:solidFill>
                  <a:srgbClr val="6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</a:t>
            </a:r>
            <a:r>
              <a:rPr lang="en-US" sz="1250" b="1" dirty="0" err="1">
                <a:solidFill>
                  <a:srgbClr val="6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250" b="1" dirty="0">
                <a:solidFill>
                  <a:srgbClr val="6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</a:t>
            </a:r>
            <a:r>
              <a:rPr lang="tr-TR" sz="10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ıcı</a:t>
            </a: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 </a:t>
            </a:r>
            <a:r>
              <a:rPr lang="en-US" sz="10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klinik</a:t>
            </a: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</a:t>
            </a:r>
            <a:r>
              <a:rPr lang="tr-TR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10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eri</a:t>
            </a: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girer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26580" y="2834640"/>
            <a:ext cx="0" cy="502920"/>
          </a:xfrm>
          <a:prstGeom prst="line">
            <a:avLst/>
          </a:prstGeom>
          <a:noFill/>
          <a:ln w="19050">
            <a:solidFill>
              <a:srgbClr val="7A8B7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17" name="Shape 15"/>
          <p:cNvSpPr/>
          <p:nvPr/>
        </p:nvSpPr>
        <p:spPr>
          <a:xfrm>
            <a:off x="6720840" y="3337560"/>
            <a:ext cx="411480" cy="411480"/>
          </a:xfrm>
          <a:prstGeom prst="ellipse">
            <a:avLst/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Text 16"/>
          <p:cNvSpPr/>
          <p:nvPr/>
        </p:nvSpPr>
        <p:spPr>
          <a:xfrm>
            <a:off x="6720840" y="3337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69480" y="322783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250" b="1" dirty="0">
                <a:solidFill>
                  <a:srgbClr val="6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Ölçeklendirme</a:t>
            </a:r>
            <a:r>
              <a:rPr lang="en-US" sz="1250" b="1" dirty="0">
                <a:solidFill>
                  <a:srgbClr val="6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Min-Max Scaler </a:t>
            </a:r>
            <a:r>
              <a:rPr lang="en-US" sz="10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</a:t>
            </a: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dönüştürülür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26580" y="3749040"/>
            <a:ext cx="0" cy="502920"/>
          </a:xfrm>
          <a:prstGeom prst="line">
            <a:avLst/>
          </a:prstGeom>
          <a:noFill/>
          <a:ln w="19050">
            <a:solidFill>
              <a:srgbClr val="7A8B7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1" name="Shape 19"/>
          <p:cNvSpPr/>
          <p:nvPr/>
        </p:nvSpPr>
        <p:spPr>
          <a:xfrm>
            <a:off x="6720840" y="4251960"/>
            <a:ext cx="411480" cy="411480"/>
          </a:xfrm>
          <a:prstGeom prst="ellipse">
            <a:avLst/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2" name="Text 20"/>
          <p:cNvSpPr/>
          <p:nvPr/>
        </p:nvSpPr>
        <p:spPr>
          <a:xfrm>
            <a:off x="6720840" y="42519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69480" y="414223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Tahmin
</a:t>
            </a: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</a:t>
            </a:r>
            <a:r>
              <a:rPr lang="en-US" sz="10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</a:t>
            </a: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</a:t>
            </a: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zamanl</a:t>
            </a:r>
            <a:r>
              <a:rPr lang="tr-TR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çalışır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926580" y="4663440"/>
            <a:ext cx="0" cy="502920"/>
          </a:xfrm>
          <a:prstGeom prst="line">
            <a:avLst/>
          </a:prstGeom>
          <a:noFill/>
          <a:ln w="19050">
            <a:solidFill>
              <a:srgbClr val="7A8B7F"/>
            </a:solidFill>
            <a:prstDash val="solid"/>
          </a:ln>
        </p:spPr>
        <p:txBody>
          <a:bodyPr/>
          <a:lstStyle/>
          <a:p>
            <a:endParaRPr lang="tr-TR"/>
          </a:p>
        </p:txBody>
      </p:sp>
      <p:sp>
        <p:nvSpPr>
          <p:cNvPr id="25" name="Shape 23"/>
          <p:cNvSpPr/>
          <p:nvPr/>
        </p:nvSpPr>
        <p:spPr>
          <a:xfrm>
            <a:off x="6720840" y="5166360"/>
            <a:ext cx="411480" cy="411480"/>
          </a:xfrm>
          <a:prstGeom prst="ellipse">
            <a:avLst/>
          </a:prstGeom>
          <a:solidFill>
            <a:srgbClr val="8B2E3C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26" name="Text 24"/>
          <p:cNvSpPr/>
          <p:nvPr/>
        </p:nvSpPr>
        <p:spPr>
          <a:xfrm>
            <a:off x="6720840" y="5166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2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269480" y="5056632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250" b="1" dirty="0">
                <a:solidFill>
                  <a:srgbClr val="6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r>
              <a:rPr lang="en-US" sz="1250" b="1" dirty="0">
                <a:solidFill>
                  <a:srgbClr val="6D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tr-TR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Hastalık</a:t>
            </a: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olas</a:t>
            </a:r>
            <a:r>
              <a:rPr lang="tr-TR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ılığı</a:t>
            </a: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</a:t>
            </a:r>
            <a:r>
              <a:rPr lang="tr-TR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</a:t>
            </a:r>
            <a:r>
              <a:rPr lang="en-US" sz="10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zde</a:t>
            </a: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olarak</a:t>
            </a:r>
            <a:r>
              <a:rPr lang="en-US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</a:t>
            </a:r>
            <a:r>
              <a:rPr lang="tr-TR" sz="105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1050" dirty="0" err="1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sterilir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Kalp Hastaligi Tahmin Sistemi  |  BIM 322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5D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8B2E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48872" cy="6217920"/>
          </a:xfrm>
          <a:prstGeom prst="rect">
            <a:avLst/>
          </a:prstGeom>
          <a:solidFill>
            <a:srgbClr val="8B2E3C"/>
          </a:solidFill>
          <a:ln w="12700">
            <a:solidFill>
              <a:srgbClr val="F2E8DC"/>
            </a:solidFill>
            <a:prstDash val="solid"/>
          </a:ln>
        </p:spPr>
        <p:txBody>
          <a:bodyPr/>
          <a:lstStyle/>
          <a:p>
            <a:endParaRPr lang="tr-TR" dirty="0"/>
          </a:p>
        </p:txBody>
      </p:sp>
      <p:sp>
        <p:nvSpPr>
          <p:cNvPr id="3" name="Text 1"/>
          <p:cNvSpPr/>
          <p:nvPr/>
        </p:nvSpPr>
        <p:spPr>
          <a:xfrm>
            <a:off x="914400" y="392069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2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Sonuc ve Degerlendirme</a:t>
            </a:r>
            <a:endParaRPr lang="en-US" sz="3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4648" y="1215029"/>
            <a:ext cx="1828800" cy="2468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280160" y="1608221"/>
            <a:ext cx="9601200" cy="658368"/>
          </a:xfrm>
          <a:prstGeom prst="rect">
            <a:avLst/>
          </a:prstGeom>
          <a:solidFill>
            <a:srgbClr val="6D24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6" name="Shape 3"/>
          <p:cNvSpPr/>
          <p:nvPr/>
        </p:nvSpPr>
        <p:spPr>
          <a:xfrm>
            <a:off x="1280160" y="1608221"/>
            <a:ext cx="109728" cy="658368"/>
          </a:xfrm>
          <a:prstGeom prst="rect">
            <a:avLst/>
          </a:prstGeom>
          <a:solidFill>
            <a:srgbClr val="7A8B7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7" name="Text 4"/>
          <p:cNvSpPr/>
          <p:nvPr/>
        </p:nvSpPr>
        <p:spPr>
          <a:xfrm>
            <a:off x="1600200" y="1608221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300" b="1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İyi </a:t>
            </a:r>
            <a:r>
              <a:rPr lang="en-US" sz="1300" b="1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   </a:t>
            </a:r>
            <a:r>
              <a:rPr lang="en-US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Bayes, %94.74 test do</a:t>
            </a:r>
            <a:r>
              <a:rPr lang="tr-TR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1200" dirty="0" err="1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rulugu</a:t>
            </a:r>
            <a:r>
              <a:rPr lang="en-US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</a:t>
            </a:r>
            <a:r>
              <a:rPr lang="en-US" sz="1200" dirty="0" err="1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</a:t>
            </a:r>
            <a:r>
              <a:rPr lang="tr-TR" sz="1200" dirty="0" err="1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şarılı</a:t>
            </a:r>
            <a:r>
              <a:rPr lang="en-US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modeldir.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280160" y="2394605"/>
            <a:ext cx="9601200" cy="658368"/>
          </a:xfrm>
          <a:prstGeom prst="rect">
            <a:avLst/>
          </a:prstGeom>
          <a:solidFill>
            <a:srgbClr val="6D24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9" name="Shape 6"/>
          <p:cNvSpPr/>
          <p:nvPr/>
        </p:nvSpPr>
        <p:spPr>
          <a:xfrm>
            <a:off x="1280160" y="2394605"/>
            <a:ext cx="109728" cy="658368"/>
          </a:xfrm>
          <a:prstGeom prst="rect">
            <a:avLst/>
          </a:prstGeom>
          <a:solidFill>
            <a:srgbClr val="7A8B7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0" name="Text 7"/>
          <p:cNvSpPr/>
          <p:nvPr/>
        </p:nvSpPr>
        <p:spPr>
          <a:xfrm>
            <a:off x="1600200" y="2394605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Genelleme</a:t>
            </a:r>
            <a:r>
              <a:rPr lang="en-US" sz="1300" b="1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300" b="1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Başarısı</a:t>
            </a:r>
            <a:r>
              <a:rPr lang="en-US" sz="1300" b="1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 a</a:t>
            </a:r>
            <a:r>
              <a:rPr lang="tr-TR" sz="1200" dirty="0" err="1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şırı</a:t>
            </a:r>
            <a:r>
              <a:rPr lang="en-US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200" dirty="0" err="1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</a:t>
            </a:r>
            <a:r>
              <a:rPr lang="en-US" sz="1200" dirty="0" err="1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renme</a:t>
            </a:r>
            <a:r>
              <a:rPr lang="en-US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yapmaz — e</a:t>
            </a:r>
            <a:r>
              <a:rPr lang="tr-TR" sz="1200" dirty="0" err="1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ği</a:t>
            </a:r>
            <a:r>
              <a:rPr lang="en-US" sz="1200" dirty="0" err="1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</a:t>
            </a:r>
            <a:r>
              <a:rPr lang="en-US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</a:t>
            </a:r>
            <a:r>
              <a:rPr lang="en-US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</a:t>
            </a:r>
            <a:r>
              <a:rPr lang="tr-TR" sz="1200" dirty="0" err="1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ğr</a:t>
            </a:r>
            <a:r>
              <a:rPr lang="en-US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ulama </a:t>
            </a:r>
            <a:r>
              <a:rPr lang="en-US" sz="1200" dirty="0" err="1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skorlar</a:t>
            </a:r>
            <a:r>
              <a:rPr lang="tr-TR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birbirine</a:t>
            </a:r>
            <a:r>
              <a:rPr lang="en-US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</a:t>
            </a:r>
            <a:r>
              <a:rPr lang="en-US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yak</a:t>
            </a:r>
            <a:r>
              <a:rPr lang="tr-TR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200" dirty="0" err="1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</a:t>
            </a:r>
            <a:r>
              <a:rPr lang="tr-TR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280160" y="3180989"/>
            <a:ext cx="9601200" cy="658368"/>
          </a:xfrm>
          <a:prstGeom prst="rect">
            <a:avLst/>
          </a:prstGeom>
          <a:solidFill>
            <a:srgbClr val="6D24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2" name="Shape 9"/>
          <p:cNvSpPr/>
          <p:nvPr/>
        </p:nvSpPr>
        <p:spPr>
          <a:xfrm>
            <a:off x="1280160" y="3180989"/>
            <a:ext cx="109728" cy="658368"/>
          </a:xfrm>
          <a:prstGeom prst="rect">
            <a:avLst/>
          </a:prstGeom>
          <a:solidFill>
            <a:srgbClr val="7A8B7F"/>
          </a:solidFill>
          <a:ln/>
        </p:spPr>
        <p:txBody>
          <a:bodyPr/>
          <a:lstStyle/>
          <a:p>
            <a:endParaRPr lang="tr-TR">
              <a:solidFill>
                <a:srgbClr val="7A8B7F"/>
              </a:solidFill>
            </a:endParaRPr>
          </a:p>
        </p:txBody>
      </p:sp>
      <p:sp>
        <p:nvSpPr>
          <p:cNvPr id="13" name="Text 10"/>
          <p:cNvSpPr/>
          <p:nvPr/>
        </p:nvSpPr>
        <p:spPr>
          <a:xfrm>
            <a:off x="1600200" y="3180989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300" b="1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Aşırı</a:t>
            </a:r>
            <a:r>
              <a:rPr lang="en-US" sz="1300" b="1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300" b="1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</a:t>
            </a:r>
            <a:r>
              <a:rPr lang="en-US" sz="1300" b="1" dirty="0" err="1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grenme</a:t>
            </a:r>
            <a:r>
              <a:rPr lang="en-US" sz="1300" b="1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Tespiti   </a:t>
            </a:r>
            <a:r>
              <a:rPr lang="en-US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e</a:t>
            </a:r>
            <a:r>
              <a:rPr lang="tr-TR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1200" dirty="0" err="1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itimde</a:t>
            </a:r>
            <a:r>
              <a:rPr lang="en-US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%99.56, do</a:t>
            </a:r>
            <a:r>
              <a:rPr lang="tr-TR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ğ</a:t>
            </a:r>
            <a:r>
              <a:rPr lang="en-US" sz="1200" dirty="0" err="1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rulamada</a:t>
            </a:r>
            <a:r>
              <a:rPr lang="en-US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%74.22 — veriyi </a:t>
            </a:r>
            <a:r>
              <a:rPr lang="en-US" sz="1200" dirty="0" err="1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ezberledigi</a:t>
            </a:r>
            <a:r>
              <a:rPr lang="en-US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</a:t>
            </a:r>
            <a:r>
              <a:rPr lang="tr-TR" sz="1200" dirty="0" err="1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çı</a:t>
            </a:r>
            <a:r>
              <a:rPr lang="en-US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r>
              <a:rPr lang="tr-TR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</a:t>
            </a:r>
            <a:r>
              <a:rPr lang="en-US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</a:t>
            </a:r>
            <a:r>
              <a:rPr lang="tr-TR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örülür</a:t>
            </a:r>
            <a:r>
              <a:rPr lang="en-US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1280160" y="3967373"/>
            <a:ext cx="9601200" cy="658368"/>
          </a:xfrm>
          <a:prstGeom prst="rect">
            <a:avLst/>
          </a:prstGeom>
          <a:solidFill>
            <a:srgbClr val="6D24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5" name="Shape 12"/>
          <p:cNvSpPr/>
          <p:nvPr/>
        </p:nvSpPr>
        <p:spPr>
          <a:xfrm>
            <a:off x="1280160" y="3967373"/>
            <a:ext cx="109728" cy="658368"/>
          </a:xfrm>
          <a:prstGeom prst="rect">
            <a:avLst/>
          </a:prstGeom>
          <a:solidFill>
            <a:srgbClr val="7A8B7F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6" name="Text 13"/>
          <p:cNvSpPr/>
          <p:nvPr/>
        </p:nvSpPr>
        <p:spPr>
          <a:xfrm>
            <a:off x="1600200" y="3967373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300" b="1" dirty="0" err="1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Açıklanabilirlik</a:t>
            </a:r>
            <a:r>
              <a:rPr lang="en-US" sz="1300" b="1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analizi ile modelin </a:t>
            </a:r>
            <a:r>
              <a:rPr lang="en-US" sz="1200" dirty="0" err="1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</a:t>
            </a:r>
            <a:r>
              <a:rPr lang="en-US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mekanizmas</a:t>
            </a:r>
            <a:r>
              <a:rPr lang="tr-TR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tr-TR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</a:t>
            </a:r>
            <a:r>
              <a:rPr lang="en-US" sz="1200" dirty="0" err="1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effaf</a:t>
            </a:r>
            <a:r>
              <a:rPr lang="en-US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hale getirildi.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280160" y="4717181"/>
            <a:ext cx="9601200" cy="658368"/>
          </a:xfrm>
          <a:prstGeom prst="rect">
            <a:avLst/>
          </a:prstGeom>
          <a:solidFill>
            <a:srgbClr val="6D2433"/>
          </a:solidFill>
          <a:ln/>
        </p:spPr>
        <p:txBody>
          <a:bodyPr/>
          <a:lstStyle/>
          <a:p>
            <a:endParaRPr lang="tr-TR"/>
          </a:p>
        </p:txBody>
      </p:sp>
      <p:sp>
        <p:nvSpPr>
          <p:cNvPr id="18" name="Shape 15"/>
          <p:cNvSpPr/>
          <p:nvPr/>
        </p:nvSpPr>
        <p:spPr>
          <a:xfrm>
            <a:off x="1280160" y="4717181"/>
            <a:ext cx="109728" cy="658368"/>
          </a:xfrm>
          <a:prstGeom prst="rect">
            <a:avLst/>
          </a:prstGeom>
          <a:solidFill>
            <a:srgbClr val="7A8B7F"/>
          </a:solidFill>
          <a:ln/>
        </p:spPr>
        <p:txBody>
          <a:bodyPr/>
          <a:lstStyle/>
          <a:p>
            <a:endParaRPr lang="tr-TR">
              <a:solidFill>
                <a:srgbClr val="7A8B7F"/>
              </a:solidFill>
            </a:endParaRPr>
          </a:p>
        </p:txBody>
      </p:sp>
      <p:sp>
        <p:nvSpPr>
          <p:cNvPr id="19" name="Text 16"/>
          <p:cNvSpPr/>
          <p:nvPr/>
        </p:nvSpPr>
        <p:spPr>
          <a:xfrm>
            <a:off x="1600200" y="4717181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</a:t>
            </a:r>
            <a:r>
              <a:rPr lang="tr-TR" sz="1300" b="1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300" b="1" dirty="0" err="1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</a:t>
            </a:r>
            <a:r>
              <a:rPr lang="en-US" sz="1300" b="1" dirty="0">
                <a:solidFill>
                  <a:srgbClr val="F2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Alma   </a:t>
            </a:r>
            <a:r>
              <a:rPr lang="en-US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Streamlit web </a:t>
            </a:r>
            <a:r>
              <a:rPr lang="en-US" sz="1200" dirty="0" err="1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</a:t>
            </a:r>
            <a:r>
              <a:rPr lang="tr-TR" sz="1200" dirty="0" err="1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üzü</a:t>
            </a:r>
            <a:r>
              <a:rPr lang="en-US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ile</a:t>
            </a:r>
            <a:r>
              <a:rPr lang="en-US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</a:t>
            </a:r>
            <a:r>
              <a:rPr lang="tr-TR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</a:t>
            </a:r>
            <a:r>
              <a:rPr lang="en-US" sz="1200" dirty="0" err="1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</a:t>
            </a:r>
            <a:r>
              <a:rPr lang="tr-TR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200" dirty="0">
                <a:solidFill>
                  <a:srgbClr val="E6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hale getirildi.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914400" y="5540141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400" i="1" dirty="0">
                <a:solidFill>
                  <a:srgbClr val="F2E8DC"/>
                </a:solidFill>
                <a:latin typeface="Georgia" pitchFamily="34" charset="0"/>
              </a:rPr>
              <a:t>TEŞEKKÜRLER</a:t>
            </a:r>
            <a:endParaRPr lang="en-US" sz="1400" dirty="0">
              <a:solidFill>
                <a:srgbClr val="F2E8DC"/>
              </a:solidFill>
            </a:endParaRP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91BBDC2A-3825-44A6-648C-2C852C0A26AB}"/>
              </a:ext>
            </a:extLst>
          </p:cNvPr>
          <p:cNvSpPr/>
          <p:nvPr/>
        </p:nvSpPr>
        <p:spPr>
          <a:xfrm>
            <a:off x="929640" y="5905901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tr-TR" sz="1400" i="1" dirty="0">
                <a:solidFill>
                  <a:srgbClr val="F2E8DC"/>
                </a:solidFill>
                <a:latin typeface="Georgia" pitchFamily="34" charset="0"/>
              </a:rPr>
              <a:t>Burak Koşar – 030123037                                                                                                                            İsmail Berk Kanca - 030123061</a:t>
            </a:r>
            <a:endParaRPr lang="en-US" sz="1400" dirty="0">
              <a:solidFill>
                <a:srgbClr val="F2E8DC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1137</Words>
  <Application>Microsoft Macintosh PowerPoint</Application>
  <PresentationFormat>Geniş ekran</PresentationFormat>
  <Paragraphs>199</Paragraphs>
  <Slides>10</Slides>
  <Notes>10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10</vt:i4>
      </vt:variant>
    </vt:vector>
  </HeadingPairs>
  <TitlesOfParts>
    <vt:vector size="15" baseType="lpstr">
      <vt:lpstr>Arial</vt:lpstr>
      <vt:lpstr>Calibri</vt:lpstr>
      <vt:lpstr>Consolas</vt:lpstr>
      <vt:lpstr>Georgia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Kalp Hastaligi Tahmin Sistemi</dc:title>
  <dc:subject>PptxGenJS Presentation</dc:subject>
  <dc:creator>BIM 322 Projesi</dc:creator>
  <cp:lastModifiedBy>berk kanca</cp:lastModifiedBy>
  <cp:revision>19</cp:revision>
  <dcterms:created xsi:type="dcterms:W3CDTF">2026-05-15T19:44:50Z</dcterms:created>
  <dcterms:modified xsi:type="dcterms:W3CDTF">2026-05-16T13:13:12Z</dcterms:modified>
</cp:coreProperties>
</file>