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E8DC"/>
    <a:srgbClr val="8B2E3C"/>
    <a:srgbClr val="7A8B7F"/>
    <a:srgbClr val="4A54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2426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17F3D-D2DA-9004-6E51-8E9B90F9B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EDFA52-EB4A-8009-56E3-54611ADAB6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8CCBD-2127-465F-FC50-BB96F0429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B0CEF-8BE7-C3A1-ADC5-58EC97803A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85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2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48872" cy="6217920"/>
          </a:xfrm>
          <a:prstGeom prst="rect">
            <a:avLst/>
          </a:prstGeom>
          <a:solidFill>
            <a:srgbClr val="8B2E3C"/>
          </a:solidFill>
          <a:ln w="12700">
            <a:solidFill>
              <a:srgbClr val="F2E8DC"/>
            </a:solidFill>
            <a:prstDash val="solid"/>
          </a:ln>
        </p:spPr>
        <p:txBody>
          <a:bodyPr/>
          <a:lstStyle/>
          <a:p>
            <a:endParaRPr lang="tr-TR">
              <a:solidFill>
                <a:srgbClr val="4A544D"/>
              </a:solidFill>
            </a:endParaRPr>
          </a:p>
        </p:txBody>
      </p:sp>
      <p:sp>
        <p:nvSpPr>
          <p:cNvPr id="3" name="Text 1"/>
          <p:cNvSpPr/>
          <p:nvPr/>
        </p:nvSpPr>
        <p:spPr>
          <a:xfrm>
            <a:off x="914400" y="10515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kern="0" spc="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322  —  MAKINE </a:t>
            </a:r>
            <a:r>
              <a:rPr lang="tr-TR" sz="1500" kern="0" spc="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ÖĞRENMESİ</a:t>
            </a:r>
            <a:r>
              <a:rPr lang="en-US" sz="1500" kern="0" spc="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UYGULAMALARI</a:t>
            </a:r>
            <a:endParaRPr lang="en-US" sz="1500" dirty="0">
              <a:solidFill>
                <a:srgbClr val="F2E8DC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Kalp </a:t>
            </a:r>
            <a:r>
              <a:rPr lang="en-US" sz="5200" b="1" dirty="0" err="1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Hastal</a:t>
            </a:r>
            <a:r>
              <a:rPr lang="tr-TR" sz="5200" b="1" dirty="0" err="1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ığı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Tahmin Sistemi</a:t>
            </a:r>
            <a:endParaRPr lang="en-US" sz="52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70248" y="3794760"/>
            <a:ext cx="3657600" cy="484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Cleveland Veri Seti ile </a:t>
            </a:r>
            <a:r>
              <a:rPr lang="en-US" sz="1700" i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</a:t>
            </a:r>
            <a:r>
              <a:rPr lang="en-US" sz="1700" i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700" i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Öğremesi</a:t>
            </a:r>
            <a:r>
              <a:rPr lang="en-US" sz="1700" i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i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Uygulamas</a:t>
            </a:r>
            <a:r>
              <a:rPr lang="tr-TR" sz="1700" i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184648" y="5166360"/>
            <a:ext cx="1828800" cy="0"/>
          </a:xfrm>
          <a:prstGeom prst="line">
            <a:avLst/>
          </a:prstGeom>
          <a:noFill/>
          <a:ln w="19050">
            <a:solidFill>
              <a:srgbClr val="7A8B7F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9" name="Text 6"/>
          <p:cNvSpPr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Sunumu</a:t>
            </a:r>
            <a:endParaRPr lang="en-US" sz="1300" dirty="0">
              <a:solidFill>
                <a:srgbClr val="F2E8DC"/>
              </a:solidFill>
            </a:endParaRPr>
          </a:p>
        </p:txBody>
      </p:sp>
      <p:cxnSp>
        <p:nvCxnSpPr>
          <p:cNvPr id="14" name="Düz Bağlayıcı 13">
            <a:extLst>
              <a:ext uri="{FF2B5EF4-FFF2-40B4-BE49-F238E27FC236}">
                <a16:creationId xmlns:a16="http://schemas.microsoft.com/office/drawing/2014/main" id="{5C2F878C-EFE1-C312-7BA3-71C5728F03DF}"/>
              </a:ext>
            </a:extLst>
          </p:cNvPr>
          <p:cNvCxnSpPr>
            <a:stCxn id="8" idx="0"/>
            <a:endCxn id="8" idx="1"/>
          </p:cNvCxnSpPr>
          <p:nvPr/>
        </p:nvCxnSpPr>
        <p:spPr>
          <a:xfrm>
            <a:off x="5184648" y="5166360"/>
            <a:ext cx="1828800" cy="1"/>
          </a:xfrm>
          <a:prstGeom prst="line">
            <a:avLst/>
          </a:prstGeom>
          <a:ln>
            <a:solidFill>
              <a:srgbClr val="F2E8D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Hakk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nda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Seti </a:t>
            </a:r>
            <a:r>
              <a:rPr lang="en-US" sz="19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</a:t>
            </a:r>
            <a:r>
              <a:rPr lang="en-US" sz="19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Ama</a:t>
            </a:r>
            <a:r>
              <a:rPr lang="tr-TR" sz="19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5486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UCI Heart Disease (Cleveland) veri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</a:t>
            </a:r>
            <a:r>
              <a:rPr lang="tr-TR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ış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 Veri seti, hastalara ait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eren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kay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tlardan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Hastalar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klinik verilerini analiz ederek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hastal</a:t>
            </a:r>
            <a:r>
              <a:rPr lang="tr-TR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ığı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riskini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renmesi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ile tahmin etmek ve karar destek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olu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turmakt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</a:t>
            </a:r>
            <a:r>
              <a:rPr lang="tr-TR" sz="16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6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 Ara</a:t>
            </a:r>
            <a:r>
              <a:rPr lang="tr-TR" sz="1600" b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</a:t>
            </a:r>
            <a:r>
              <a:rPr lang="en-US" sz="1600" b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48006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993392" y="48006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1993392" y="480060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46704" y="48006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3346704" y="480060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700016" y="4800600"/>
            <a:ext cx="1234440" cy="502920"/>
          </a:xfrm>
          <a:prstGeom prst="roundRect">
            <a:avLst>
              <a:gd name="adj" fmla="val 14545"/>
            </a:avLst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4700016" y="4800600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720840" y="1645920"/>
            <a:ext cx="2331720" cy="19202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6720840" y="1645920"/>
            <a:ext cx="2331720" cy="1097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720840" y="1938528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297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72084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Kayd</a:t>
            </a:r>
            <a:r>
              <a:rPr lang="tr-TR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326880" y="1645920"/>
            <a:ext cx="2331720" cy="19202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2" name="Shape 20"/>
          <p:cNvSpPr/>
          <p:nvPr/>
        </p:nvSpPr>
        <p:spPr>
          <a:xfrm>
            <a:off x="9326880" y="1645920"/>
            <a:ext cx="2331720" cy="1097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3" name="Text 21"/>
          <p:cNvSpPr/>
          <p:nvPr/>
        </p:nvSpPr>
        <p:spPr>
          <a:xfrm>
            <a:off x="9326880" y="1938528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9326880" y="28346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 </a:t>
            </a:r>
            <a:r>
              <a:rPr lang="tr-TR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2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0840" y="3886200"/>
            <a:ext cx="2331720" cy="19202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6" name="Shape 24"/>
          <p:cNvSpPr/>
          <p:nvPr/>
        </p:nvSpPr>
        <p:spPr>
          <a:xfrm>
            <a:off x="6720840" y="3886200"/>
            <a:ext cx="2331720" cy="1097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6720840" y="4178808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8" name="Text 26"/>
          <p:cNvSpPr/>
          <p:nvPr/>
        </p:nvSpPr>
        <p:spPr>
          <a:xfrm>
            <a:off x="6720840" y="50749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</a:t>
            </a:r>
            <a:r>
              <a:rPr lang="en-US" sz="12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Algoritmas</a:t>
            </a:r>
            <a:r>
              <a:rPr lang="tr-TR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326880" y="3886200"/>
            <a:ext cx="2331720" cy="19202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9326880" y="3886200"/>
            <a:ext cx="2331720" cy="1097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9326880" y="4178808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400" dirty="0"/>
          </a:p>
        </p:txBody>
      </p:sp>
      <p:sp>
        <p:nvSpPr>
          <p:cNvPr id="32" name="Text 30"/>
          <p:cNvSpPr/>
          <p:nvPr/>
        </p:nvSpPr>
        <p:spPr>
          <a:xfrm>
            <a:off x="9326880" y="50749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r>
              <a:rPr lang="tr-TR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2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ilen</a:t>
            </a:r>
            <a:r>
              <a:rPr lang="en-US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2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720840" y="5897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8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Modeller:  KNN  •  Naive Bayes  •  Random Forest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 1 — Veri 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leme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68580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5270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'?’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aretli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erler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NaN’a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evrildi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eksik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sat</a:t>
            </a:r>
            <a:r>
              <a:rPr lang="tr-TR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ır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 silindi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2606040"/>
            <a:ext cx="384048" cy="384048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2441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ve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nlari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metinden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(float)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formata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</a:t>
            </a:r>
            <a:r>
              <a:rPr lang="tr-TR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önüştürüldü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33558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</a:t>
            </a:r>
            <a:r>
              <a:rPr lang="tr-TR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sütünu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ikili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 indirgendi  (0: Saglikli, 1: Hasta)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4434840"/>
            <a:ext cx="384048" cy="384048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685800" y="44348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42702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 y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ntemi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degi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kenlerdeki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ayk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erler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temizlendi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5486400"/>
            <a:ext cx="5532120" cy="77724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685800" y="5486400"/>
            <a:ext cx="5532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Temizlik sonucu:  </a:t>
            </a:r>
            <a:r>
              <a:rPr lang="en-US" sz="17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297 </a:t>
            </a:r>
            <a:r>
              <a:rPr lang="en-US" sz="1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 →  </a:t>
            </a:r>
            <a:r>
              <a:rPr lang="en-US" sz="17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282 </a:t>
            </a:r>
            <a:r>
              <a:rPr lang="en-US" sz="13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0" y="1600200"/>
            <a:ext cx="4983480" cy="4663440"/>
          </a:xfrm>
          <a:prstGeom prst="rect">
            <a:avLst/>
          </a:prstGeom>
          <a:solidFill>
            <a:srgbClr val="DED5C7"/>
          </a:solidFill>
          <a:ln w="12700">
            <a:solidFill>
              <a:srgbClr val="7A8B7F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6583680" y="1600200"/>
            <a:ext cx="498348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Gorsel: Kutu Grafigi (Aykiri Degerler)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(grafigi buraya ekleyin)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25" name="Resim 24">
            <a:extLst>
              <a:ext uri="{FF2B5EF4-FFF2-40B4-BE49-F238E27FC236}">
                <a16:creationId xmlns:a16="http://schemas.microsoft.com/office/drawing/2014/main" id="{212F24AB-8DA8-5F11-65F3-B075F7848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389888"/>
            <a:ext cx="5656340" cy="49377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 2 — 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zellik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 Normalizasyon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Normalizasyon:  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ö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zellikler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Min-Max Scaler ile 0-1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</a:t>
            </a:r>
            <a:r>
              <a:rPr lang="tr-TR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ığı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eklendirildi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3429000" cy="187452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3429000" cy="5669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r>
              <a:rPr lang="en-US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8529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SelectKBest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33101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F-istatistigi (ANOVA) ile her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hedefle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ili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kisi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puanlan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43400" y="2194560"/>
            <a:ext cx="3429000" cy="187452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Shape 11"/>
          <p:cNvSpPr/>
          <p:nvPr/>
        </p:nvSpPr>
        <p:spPr>
          <a:xfrm>
            <a:off x="4343400" y="2194560"/>
            <a:ext cx="3429000" cy="5669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4526280" y="21945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r>
              <a:rPr lang="en-US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26280" y="28529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RF Importance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26280" y="33101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modelinin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skorlar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kullanilir.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2194560"/>
            <a:ext cx="3429000" cy="187452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8" name="Shape 16"/>
          <p:cNvSpPr/>
          <p:nvPr/>
        </p:nvSpPr>
        <p:spPr>
          <a:xfrm>
            <a:off x="8046720" y="2194560"/>
            <a:ext cx="3429000" cy="566928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9" name="Text 17"/>
          <p:cNvSpPr/>
          <p:nvPr/>
        </p:nvSpPr>
        <p:spPr>
          <a:xfrm>
            <a:off x="8229600" y="219456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tr-TR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</a:t>
            </a:r>
            <a:r>
              <a:rPr lang="en-US" sz="1050" kern="0" spc="20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285292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RFE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331012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Feature Elimination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zellikler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ad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elenir.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0080" y="4434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Üç</a:t>
            </a:r>
            <a:r>
              <a:rPr lang="en-US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</a:t>
            </a:r>
            <a:r>
              <a:rPr lang="tr-TR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17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ntemde</a:t>
            </a:r>
            <a:r>
              <a:rPr lang="en-US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</a:t>
            </a:r>
            <a:r>
              <a:rPr lang="tr-TR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 </a:t>
            </a:r>
            <a:r>
              <a:rPr lang="tr-TR" sz="17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Çı</a:t>
            </a:r>
            <a:r>
              <a:rPr lang="en-US" sz="17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kan</a:t>
            </a:r>
            <a:r>
              <a:rPr lang="en-US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5 </a:t>
            </a:r>
            <a:r>
              <a:rPr lang="en-US" sz="17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Ortak</a:t>
            </a:r>
            <a:r>
              <a:rPr lang="en-US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tr-TR" sz="17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17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zellik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960120" y="502920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4" name="Text 22"/>
          <p:cNvSpPr/>
          <p:nvPr/>
        </p:nvSpPr>
        <p:spPr>
          <a:xfrm>
            <a:off x="960120" y="51389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thalach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" y="5522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Maks. </a:t>
            </a:r>
            <a:r>
              <a:rPr lang="en-US" sz="10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</a:t>
            </a: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</a:t>
            </a:r>
            <a:r>
              <a:rPr lang="tr-TR" sz="10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ızı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99816" y="502920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7" name="Text 25"/>
          <p:cNvSpPr/>
          <p:nvPr/>
        </p:nvSpPr>
        <p:spPr>
          <a:xfrm>
            <a:off x="3099816" y="51389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099816" y="5522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Damar </a:t>
            </a:r>
            <a:r>
              <a:rPr lang="tr-TR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sayısı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239512" y="502920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0" name="Text 28"/>
          <p:cNvSpPr/>
          <p:nvPr/>
        </p:nvSpPr>
        <p:spPr>
          <a:xfrm>
            <a:off x="5239512" y="51389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239512" y="5522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Talasemi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79208" y="502920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3" name="Text 31"/>
          <p:cNvSpPr/>
          <p:nvPr/>
        </p:nvSpPr>
        <p:spPr>
          <a:xfrm>
            <a:off x="7379208" y="51389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79208" y="5522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tr-TR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Göğüs</a:t>
            </a: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tr-TR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tr-TR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ısı</a:t>
            </a: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tipi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518904" y="5029200"/>
            <a:ext cx="1874520" cy="960120"/>
          </a:xfrm>
          <a:prstGeom prst="roundRect">
            <a:avLst>
              <a:gd name="adj" fmla="val 9524"/>
            </a:avLst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6" name="Text 34"/>
          <p:cNvSpPr/>
          <p:nvPr/>
        </p:nvSpPr>
        <p:spPr>
          <a:xfrm>
            <a:off x="9518904" y="5138928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oldpeak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18904" y="5522976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</a:t>
            </a:r>
            <a:r>
              <a:rPr lang="tr-TR" sz="10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çökmesi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 3 — Modelleme 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Karma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şıklık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Matrisleri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ayrimi:  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%80 E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itim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%20 Test.  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farkli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renmesi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algoritmas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 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tr-TR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45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itildi</a:t>
            </a:r>
            <a:r>
              <a:rPr lang="en-US" sz="14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3429000" cy="914400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6"/>
          <p:cNvSpPr/>
          <p:nvPr/>
        </p:nvSpPr>
        <p:spPr>
          <a:xfrm>
            <a:off x="822960" y="2212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K-En Yak</a:t>
            </a:r>
            <a:r>
              <a:rPr lang="tr-TR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Kom</a:t>
            </a:r>
            <a:r>
              <a:rPr lang="tr-TR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(K=5)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148840"/>
            <a:ext cx="3429000" cy="914400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4526280" y="2212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NB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6720" y="2148840"/>
            <a:ext cx="3429000" cy="914400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8229600" y="22128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0" y="2615184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Topluluk</a:t>
            </a: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tr-TR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tr-TR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</a:t>
            </a:r>
            <a:r>
              <a:rPr lang="tr-TR" sz="105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21" name="Resim 20">
            <a:extLst>
              <a:ext uri="{FF2B5EF4-FFF2-40B4-BE49-F238E27FC236}">
                <a16:creationId xmlns:a16="http://schemas.microsoft.com/office/drawing/2014/main" id="{08107E8A-E145-4EF3-BC03-4F07ECC4998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810"/>
          <a:stretch>
            <a:fillRect/>
          </a:stretch>
        </p:blipFill>
        <p:spPr>
          <a:xfrm>
            <a:off x="640080" y="3291840"/>
            <a:ext cx="3429000" cy="2999232"/>
          </a:xfrm>
          <a:prstGeom prst="rect">
            <a:avLst/>
          </a:prstGeom>
        </p:spPr>
      </p:pic>
      <p:pic>
        <p:nvPicPr>
          <p:cNvPr id="28" name="Resim 27">
            <a:extLst>
              <a:ext uri="{FF2B5EF4-FFF2-40B4-BE49-F238E27FC236}">
                <a16:creationId xmlns:a16="http://schemas.microsoft.com/office/drawing/2014/main" id="{3FDCBDE1-445B-66E2-4CB4-77FD7D4EE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3291840"/>
            <a:ext cx="3429000" cy="2999232"/>
          </a:xfrm>
          <a:prstGeom prst="rect">
            <a:avLst/>
          </a:prstGeom>
        </p:spPr>
      </p:pic>
      <p:pic>
        <p:nvPicPr>
          <p:cNvPr id="30" name="Resim 29">
            <a:extLst>
              <a:ext uri="{FF2B5EF4-FFF2-40B4-BE49-F238E27FC236}">
                <a16:creationId xmlns:a16="http://schemas.microsoft.com/office/drawing/2014/main" id="{271C3A81-BC3D-FF18-CEDF-A1727B320C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1" y="3291840"/>
            <a:ext cx="3429000" cy="29992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 4 — Model De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ğ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erlendirme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r>
              <a:rPr lang="tr-TR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i="1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itim</a:t>
            </a:r>
            <a:r>
              <a:rPr lang="en-US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</a:t>
            </a:r>
            <a:r>
              <a:rPr lang="tr-TR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i="1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rulama</a:t>
            </a:r>
            <a:r>
              <a:rPr lang="en-US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(5-kat </a:t>
            </a:r>
            <a:r>
              <a:rPr lang="tr-TR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300" i="1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apraz</a:t>
            </a:r>
            <a:r>
              <a:rPr lang="en-US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</a:t>
            </a:r>
            <a:r>
              <a:rPr lang="tr-TR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i="1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rulama</a:t>
            </a:r>
            <a:r>
              <a:rPr lang="en-US" sz="13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ve test setlerinde performans metrikleri: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7371825"/>
              </p:ext>
            </p:extLst>
          </p:nvPr>
        </p:nvGraphicFramePr>
        <p:xfrm>
          <a:off x="640080" y="2011680"/>
          <a:ext cx="10927080" cy="338328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568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4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 Seti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4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</a:t>
                      </a:r>
                      <a:r>
                        <a:rPr lang="tr-TR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ğ</a:t>
                      </a: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ruluk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4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Hassasiyet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4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Duyarl</a:t>
                      </a:r>
                      <a:r>
                        <a:rPr lang="tr-TR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ılı</a:t>
                      </a:r>
                      <a:r>
                        <a:rPr lang="en-US" sz="1250" b="1">
                          <a:solidFill>
                            <a:srgbClr val="F2E8D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D24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(K=5)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84.00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85.56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77.00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(K=5)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Doğrulama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(5-CV)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77.78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79.19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71.00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 (K=5)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91.23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92.59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82.67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82.80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77.00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Doğrulama</a:t>
                      </a:r>
                      <a:r>
                        <a:rPr lang="en-US" sz="1150" dirty="0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(5-CV)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82.67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84.11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77.00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94.74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96.30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>
                          <a:solidFill>
                            <a:srgbClr val="6D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92.86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7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Eğitim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99.56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100.00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99.00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tr-TR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Doğrulama</a:t>
                      </a: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(5-CV)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74.22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73.63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69.00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3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91.23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92.59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4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623560"/>
            <a:ext cx="274320" cy="50292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/>
          <p:nvPr/>
        </p:nvSpPr>
        <p:spPr>
          <a:xfrm>
            <a:off x="1051560" y="55778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İyi </a:t>
            </a:r>
            <a:r>
              <a:rPr lang="en-US" sz="120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Model: 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—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ksek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 do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rulu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(%94.74)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itim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rulama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skorlar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yak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(a</a:t>
            </a:r>
            <a:r>
              <a:rPr lang="tr-TR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şırı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renme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yok).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 4 — ROC Analizi (Naive Bayes)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355080" y="1600200"/>
            <a:ext cx="5212080" cy="4617720"/>
          </a:xfrm>
          <a:prstGeom prst="rect">
            <a:avLst/>
          </a:prstGeom>
          <a:solidFill>
            <a:srgbClr val="DED5C7"/>
          </a:solidFill>
          <a:ln w="12700">
            <a:solidFill>
              <a:srgbClr val="7A8B7F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6355080" y="1600200"/>
            <a:ext cx="521208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Gorsel: ROC Egrisi (Egitim vs Test)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(grafigi buraya ekleyin)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691640"/>
            <a:ext cx="5349240" cy="12344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Shape 7"/>
          <p:cNvSpPr/>
          <p:nvPr/>
        </p:nvSpPr>
        <p:spPr>
          <a:xfrm>
            <a:off x="640080" y="1691640"/>
            <a:ext cx="128016" cy="123444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960120" y="18562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— </a:t>
            </a:r>
            <a:r>
              <a:rPr lang="tr-TR" sz="13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r>
              <a:rPr lang="en-US" sz="13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Verisi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931920" y="169164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0.872</a:t>
            </a:r>
            <a:endParaRPr lang="en-US" sz="4000" dirty="0"/>
          </a:p>
        </p:txBody>
      </p:sp>
      <p:sp>
        <p:nvSpPr>
          <p:cNvPr id="12" name="Shape 10"/>
          <p:cNvSpPr/>
          <p:nvPr/>
        </p:nvSpPr>
        <p:spPr>
          <a:xfrm>
            <a:off x="640080" y="3108960"/>
            <a:ext cx="5349240" cy="123444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28016" cy="123444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960120" y="32735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— Test Verisi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3108960"/>
            <a:ext cx="1920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0.989</a:t>
            </a:r>
            <a:endParaRPr lang="en-US" sz="40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5349240" cy="155448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868680" y="4828032"/>
            <a:ext cx="4892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Yorum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AUC de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erleri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modelin hasta 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ıklı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flar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 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üç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ekilde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ayırdığını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gösteriri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itim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test e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rilerinin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yak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ığı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şırı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renme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olmad</a:t>
            </a:r>
            <a:r>
              <a:rPr lang="tr-TR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ığını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</a:t>
            </a:r>
            <a:r>
              <a:rPr lang="tr-TR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rular</a:t>
            </a:r>
            <a:r>
              <a:rPr lang="en-US" sz="1150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21" name="Resim 20">
            <a:extLst>
              <a:ext uri="{FF2B5EF4-FFF2-40B4-BE49-F238E27FC236}">
                <a16:creationId xmlns:a16="http://schemas.microsoft.com/office/drawing/2014/main" id="{E174CCE2-698C-83D5-B38C-D0C2D3D959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55"/>
          <a:stretch>
            <a:fillRect/>
          </a:stretch>
        </p:blipFill>
        <p:spPr>
          <a:xfrm>
            <a:off x="6355080" y="1600201"/>
            <a:ext cx="5291644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 Kutu </a:t>
            </a:r>
            <a:r>
              <a:rPr lang="tr-TR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Açıklabilirliği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SHAP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532120" cy="4617720"/>
          </a:xfrm>
          <a:prstGeom prst="rect">
            <a:avLst/>
          </a:prstGeom>
          <a:solidFill>
            <a:srgbClr val="DED5C7"/>
          </a:solidFill>
          <a:ln w="12700">
            <a:solidFill>
              <a:srgbClr val="7A8B7F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532120" cy="4617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Gorsel: SHAP Ozet Grafigi</a:t>
            </a:r>
            <a:endParaRPr lang="en-US" sz="14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(grafigi buraya ekleyin)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1645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</a:t>
            </a:r>
            <a:r>
              <a:rPr lang="en-US" sz="18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Kararlar</a:t>
            </a:r>
            <a:r>
              <a:rPr lang="tr-TR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Nas</a:t>
            </a:r>
            <a:r>
              <a:rPr lang="tr-TR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 </a:t>
            </a:r>
            <a:r>
              <a:rPr lang="tr-TR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Açıklanıyor</a:t>
            </a:r>
            <a:r>
              <a:rPr lang="en-US" sz="18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37960" y="214884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y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ntemi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iyi 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Naive Bayes'in her tahmininde hangi 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ne kadar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etkili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oldu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</a:t>
            </a:r>
            <a:r>
              <a:rPr lang="tr-TR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</a:t>
            </a: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olarak ortaya koyar.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37960" y="3200400"/>
            <a:ext cx="365760" cy="36576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1" name="Text 9"/>
          <p:cNvSpPr/>
          <p:nvPr/>
        </p:nvSpPr>
        <p:spPr>
          <a:xfrm>
            <a:off x="653796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10896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 — Talasemi
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zerinde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ksek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etkiye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sahip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37960" y="4224528"/>
            <a:ext cx="365760" cy="36576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6537960" y="42245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40880" y="413308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— Damar Sayisi
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ralamasinda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ikinci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nemli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zellik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37960" y="5248656"/>
            <a:ext cx="365760" cy="36576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7" name="Text 15"/>
          <p:cNvSpPr/>
          <p:nvPr/>
        </p:nvSpPr>
        <p:spPr>
          <a:xfrm>
            <a:off x="6537960" y="52486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040880" y="5157216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Yonu
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ksek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thal ve ca de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erleri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hastal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</a:t>
            </a:r>
            <a:r>
              <a:rPr lang="en-US" sz="11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riskini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art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tr-TR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1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22" name="Resim 21">
            <a:extLst>
              <a:ext uri="{FF2B5EF4-FFF2-40B4-BE49-F238E27FC236}">
                <a16:creationId xmlns:a16="http://schemas.microsoft.com/office/drawing/2014/main" id="{34305565-AA55-3E21-4016-3772E7B487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85"/>
          <a:stretch>
            <a:fillRect/>
          </a:stretch>
        </p:blipFill>
        <p:spPr>
          <a:xfrm>
            <a:off x="624840" y="1573276"/>
            <a:ext cx="5589589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8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solidFill>
            <a:srgbClr val="8B2E3C"/>
          </a:solidFill>
          <a:ln/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530352"/>
            <a:ext cx="100584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Canlıya</a:t>
            </a:r>
            <a:r>
              <a:rPr lang="en-US" sz="30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Alma — Streamlit Web </a:t>
            </a:r>
            <a:r>
              <a:rPr lang="en-US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Aray</a:t>
            </a:r>
            <a:r>
              <a:rPr lang="tr-TR" sz="30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üzü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5349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bir web uygulamasi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girer, 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</a:t>
            </a:r>
            <a:r>
              <a:rPr lang="tr-TR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4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</a:t>
            </a: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tahmini yapar.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</a:t>
            </a:r>
            <a:r>
              <a:rPr lang="tr-TR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r>
              <a:rPr lang="tr-TR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 Al</a:t>
            </a:r>
            <a:r>
              <a:rPr lang="tr-TR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ı</a:t>
            </a:r>
            <a:r>
              <a:rPr lang="en-US" sz="1500" b="1" dirty="0">
                <a:solidFill>
                  <a:srgbClr val="6D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nan 5 Klinik Bulgu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52120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thalach — Maksimum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hızı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— Renkli floroskopi damar say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ısı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 —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Talasemi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ürü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— G</a:t>
            </a:r>
            <a:r>
              <a:rPr lang="tr-TR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öğüs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ağrısı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tipi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oldpeak —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Egzersize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bagl</a:t>
            </a:r>
            <a:r>
              <a:rPr lang="tr-TR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 </a:t>
            </a:r>
            <a:r>
              <a:rPr lang="tr-TR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</a:t>
            </a:r>
            <a:r>
              <a:rPr lang="en-US" sz="1200" dirty="0" err="1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kmesi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4983480"/>
            <a:ext cx="5349240" cy="1143000"/>
          </a:xfrm>
          <a:prstGeom prst="rect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868680" y="5138928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tr-TR" sz="11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Çalıştırma</a:t>
            </a:r>
            <a:r>
              <a:rPr lang="en-US" sz="11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komutu</a:t>
            </a:r>
            <a:endParaRPr lang="en-US" sz="1100" dirty="0"/>
          </a:p>
          <a:p>
            <a:pPr marL="0" indent="0">
              <a:buNone/>
            </a:pPr>
            <a:r>
              <a:rPr lang="en-US" sz="1700" b="1" dirty="0">
                <a:solidFill>
                  <a:srgbClr val="F2E8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run app.py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0" y="1600200"/>
            <a:ext cx="5166360" cy="4617720"/>
          </a:xfrm>
          <a:prstGeom prst="rect">
            <a:avLst/>
          </a:prstGeom>
          <a:solidFill>
            <a:srgbClr val="FAF4EC"/>
          </a:solidFill>
          <a:ln w="9525">
            <a:solidFill>
              <a:srgbClr val="7A8B7F"/>
            </a:solidFill>
            <a:prstDash val="solid"/>
          </a:ln>
          <a:effectLst>
            <a:outerShdw blurRad="88900" dist="38100" dir="8100000" algn="bl" rotWithShape="0">
              <a:srgbClr val="000000">
                <a:alpha val="16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 err="1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Uygulama</a:t>
            </a:r>
            <a:r>
              <a:rPr lang="en-US" sz="16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tr-TR" sz="1600" b="1" dirty="0">
                <a:solidFill>
                  <a:srgbClr val="8B2E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Akışı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20840" y="2423160"/>
            <a:ext cx="411480" cy="41148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4" name="Text 12"/>
          <p:cNvSpPr/>
          <p:nvPr/>
        </p:nvSpPr>
        <p:spPr>
          <a:xfrm>
            <a:off x="672084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9480" y="23134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 err="1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</a:t>
            </a:r>
            <a:r>
              <a:rPr lang="en-US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Giri</a:t>
            </a:r>
            <a:r>
              <a:rPr lang="tr-TR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250" b="1" dirty="0" err="1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</a:t>
            </a:r>
            <a:r>
              <a:rPr lang="tr-TR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ıcı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 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eri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girer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26580" y="2834640"/>
            <a:ext cx="0" cy="502920"/>
          </a:xfrm>
          <a:prstGeom prst="line">
            <a:avLst/>
          </a:prstGeom>
          <a:noFill/>
          <a:ln w="19050">
            <a:solidFill>
              <a:srgbClr val="7A8B7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7" name="Shape 15"/>
          <p:cNvSpPr/>
          <p:nvPr/>
        </p:nvSpPr>
        <p:spPr>
          <a:xfrm>
            <a:off x="6720840" y="3337560"/>
            <a:ext cx="411480" cy="41148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8" name="Text 16"/>
          <p:cNvSpPr/>
          <p:nvPr/>
        </p:nvSpPr>
        <p:spPr>
          <a:xfrm>
            <a:off x="6720840" y="3337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69480" y="32278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Ölçeklendirme</a:t>
            </a:r>
            <a:r>
              <a:rPr lang="en-US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Min-Max Scaler 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dönüştürülür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26580" y="3749040"/>
            <a:ext cx="0" cy="502920"/>
          </a:xfrm>
          <a:prstGeom prst="line">
            <a:avLst/>
          </a:prstGeom>
          <a:noFill/>
          <a:ln w="19050">
            <a:solidFill>
              <a:srgbClr val="7A8B7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Shape 19"/>
          <p:cNvSpPr/>
          <p:nvPr/>
        </p:nvSpPr>
        <p:spPr>
          <a:xfrm>
            <a:off x="6720840" y="4251960"/>
            <a:ext cx="411480" cy="41148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2" name="Text 20"/>
          <p:cNvSpPr/>
          <p:nvPr/>
        </p:nvSpPr>
        <p:spPr>
          <a:xfrm>
            <a:off x="6720840" y="4251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69480" y="41422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Tahmin
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zamanl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çalışır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926580" y="4663440"/>
            <a:ext cx="0" cy="502920"/>
          </a:xfrm>
          <a:prstGeom prst="line">
            <a:avLst/>
          </a:prstGeom>
          <a:noFill/>
          <a:ln w="19050">
            <a:solidFill>
              <a:srgbClr val="7A8B7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Shape 23"/>
          <p:cNvSpPr/>
          <p:nvPr/>
        </p:nvSpPr>
        <p:spPr>
          <a:xfrm>
            <a:off x="6720840" y="5166360"/>
            <a:ext cx="411480" cy="411480"/>
          </a:xfrm>
          <a:prstGeom prst="ellipse">
            <a:avLst/>
          </a:prstGeom>
          <a:solidFill>
            <a:srgbClr val="8B2E3C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26" name="Text 24"/>
          <p:cNvSpPr/>
          <p:nvPr/>
        </p:nvSpPr>
        <p:spPr>
          <a:xfrm>
            <a:off x="6720840" y="5166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69480" y="505663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</a:t>
            </a:r>
            <a:r>
              <a:rPr lang="en-US" sz="1250" b="1" dirty="0">
                <a:solidFill>
                  <a:srgbClr val="6D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Hastalık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olas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ılığı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zde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</a:t>
            </a:r>
            <a:r>
              <a:rPr lang="en-US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</a:t>
            </a:r>
            <a:r>
              <a:rPr lang="tr-TR" sz="105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050" dirty="0" err="1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sterilir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Hastaligi Tahmin Sistemi  |  BIM 322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4652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5D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B2E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320040"/>
            <a:ext cx="11548872" cy="6217920"/>
          </a:xfrm>
          <a:prstGeom prst="rect">
            <a:avLst/>
          </a:prstGeom>
          <a:solidFill>
            <a:srgbClr val="8B2E3C"/>
          </a:solidFill>
          <a:ln w="12700">
            <a:solidFill>
              <a:srgbClr val="F2E8DC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3" name="Text 1"/>
          <p:cNvSpPr/>
          <p:nvPr/>
        </p:nvSpPr>
        <p:spPr>
          <a:xfrm>
            <a:off x="914400" y="392069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Sonu</a:t>
            </a:r>
            <a:r>
              <a:rPr lang="tr-TR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</a:t>
            </a:r>
            <a:r>
              <a:rPr lang="en-US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r>
              <a:rPr lang="en-US" sz="3400" b="1" dirty="0" err="1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</a:t>
            </a:r>
            <a:r>
              <a:rPr lang="en-US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</a:t>
            </a:r>
            <a:r>
              <a:rPr lang="tr-TR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ğ</a:t>
            </a:r>
            <a:r>
              <a:rPr lang="en-US" sz="3400" b="1" dirty="0" err="1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erlendirme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4648" y="1215029"/>
            <a:ext cx="1828800" cy="2468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80160" y="1608221"/>
            <a:ext cx="9601200" cy="658368"/>
          </a:xfrm>
          <a:prstGeom prst="rect">
            <a:avLst/>
          </a:prstGeom>
          <a:solidFill>
            <a:srgbClr val="6D2433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6" name="Shape 3"/>
          <p:cNvSpPr/>
          <p:nvPr/>
        </p:nvSpPr>
        <p:spPr>
          <a:xfrm>
            <a:off x="1280160" y="1608221"/>
            <a:ext cx="109728" cy="658368"/>
          </a:xfrm>
          <a:prstGeom prst="rect">
            <a:avLst/>
          </a:prstGeom>
          <a:solidFill>
            <a:srgbClr val="7A8B7F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7" name="Text 4"/>
          <p:cNvSpPr/>
          <p:nvPr/>
        </p:nvSpPr>
        <p:spPr>
          <a:xfrm>
            <a:off x="1600200" y="1608221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İyi 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  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%94.74 test do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rulugu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ile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şarılı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modeldir.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280160" y="2394605"/>
            <a:ext cx="9601200" cy="658368"/>
          </a:xfrm>
          <a:prstGeom prst="rect">
            <a:avLst/>
          </a:prstGeom>
          <a:solidFill>
            <a:srgbClr val="6D2433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9" name="Shape 6"/>
          <p:cNvSpPr/>
          <p:nvPr/>
        </p:nvSpPr>
        <p:spPr>
          <a:xfrm>
            <a:off x="1280160" y="2394605"/>
            <a:ext cx="109728" cy="658368"/>
          </a:xfrm>
          <a:prstGeom prst="rect">
            <a:avLst/>
          </a:prstGeom>
          <a:solidFill>
            <a:srgbClr val="7A8B7F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/>
          <p:nvPr/>
        </p:nvSpPr>
        <p:spPr>
          <a:xfrm>
            <a:off x="1600200" y="2394605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Genelleme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Başarısı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a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şırı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renme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yapmaz — e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ği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ğr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ulama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skorlar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birbirine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 yak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280160" y="3180989"/>
            <a:ext cx="9601200" cy="658368"/>
          </a:xfrm>
          <a:prstGeom prst="rect">
            <a:avLst/>
          </a:prstGeom>
          <a:solidFill>
            <a:srgbClr val="6D2433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2" name="Shape 9"/>
          <p:cNvSpPr/>
          <p:nvPr/>
        </p:nvSpPr>
        <p:spPr>
          <a:xfrm>
            <a:off x="1280160" y="3180989"/>
            <a:ext cx="109728" cy="658368"/>
          </a:xfrm>
          <a:prstGeom prst="rect">
            <a:avLst/>
          </a:prstGeom>
          <a:solidFill>
            <a:srgbClr val="7A8B7F"/>
          </a:solidFill>
          <a:ln/>
        </p:spPr>
        <p:txBody>
          <a:bodyPr/>
          <a:lstStyle/>
          <a:p>
            <a:endParaRPr lang="tr-TR">
              <a:solidFill>
                <a:srgbClr val="7A8B7F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1600200" y="3180989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Aşırı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</a:t>
            </a:r>
            <a:r>
              <a:rPr lang="en-US" sz="1300" b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grenme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Tespiti   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e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itimde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%99.56, do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ğ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rulamada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%74.22 — veriyi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ezberledigi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örülür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280160" y="3967373"/>
            <a:ext cx="9601200" cy="658368"/>
          </a:xfrm>
          <a:prstGeom prst="rect">
            <a:avLst/>
          </a:prstGeom>
          <a:solidFill>
            <a:srgbClr val="6D2433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5" name="Shape 12"/>
          <p:cNvSpPr/>
          <p:nvPr/>
        </p:nvSpPr>
        <p:spPr>
          <a:xfrm>
            <a:off x="1280160" y="3967373"/>
            <a:ext cx="109728" cy="658368"/>
          </a:xfrm>
          <a:prstGeom prst="rect">
            <a:avLst/>
          </a:prstGeom>
          <a:solidFill>
            <a:srgbClr val="7A8B7F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6" name="Text 13"/>
          <p:cNvSpPr/>
          <p:nvPr/>
        </p:nvSpPr>
        <p:spPr>
          <a:xfrm>
            <a:off x="1600200" y="3967373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tr-TR" sz="1300" b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Açıklanabilirlik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analizi ile modelin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mekanizmas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effaf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hale getirildi.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280160" y="4717181"/>
            <a:ext cx="9601200" cy="658368"/>
          </a:xfrm>
          <a:prstGeom prst="rect">
            <a:avLst/>
          </a:prstGeom>
          <a:solidFill>
            <a:srgbClr val="6D2433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18" name="Shape 15"/>
          <p:cNvSpPr/>
          <p:nvPr/>
        </p:nvSpPr>
        <p:spPr>
          <a:xfrm>
            <a:off x="1280160" y="4717181"/>
            <a:ext cx="109728" cy="658368"/>
          </a:xfrm>
          <a:prstGeom prst="rect">
            <a:avLst/>
          </a:prstGeom>
          <a:solidFill>
            <a:srgbClr val="7A8B7F"/>
          </a:solidFill>
          <a:ln/>
        </p:spPr>
        <p:txBody>
          <a:bodyPr/>
          <a:lstStyle/>
          <a:p>
            <a:endParaRPr lang="tr-TR">
              <a:solidFill>
                <a:srgbClr val="7A8B7F"/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1600200" y="4717181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</a:t>
            </a:r>
            <a:r>
              <a:rPr lang="tr-TR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300" b="1" dirty="0" err="1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</a:t>
            </a:r>
            <a:r>
              <a:rPr lang="en-US" sz="1300" b="1" dirty="0">
                <a:solidFill>
                  <a:srgbClr val="F2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Alma   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Streamlit web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aray</a:t>
            </a:r>
            <a:r>
              <a:rPr lang="tr-TR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üzü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</a:t>
            </a:r>
            <a:r>
              <a:rPr lang="en-US" sz="1200" dirty="0" err="1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</a:t>
            </a:r>
            <a:r>
              <a:rPr lang="tr-TR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</a:t>
            </a:r>
            <a:r>
              <a:rPr lang="en-US" sz="1200" dirty="0">
                <a:solidFill>
                  <a:srgbClr val="E6C9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hale getirildi.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5540141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1400" i="1" dirty="0">
                <a:solidFill>
                  <a:srgbClr val="F2E8DC"/>
                </a:solidFill>
                <a:latin typeface="Georgia" pitchFamily="34" charset="0"/>
              </a:rPr>
              <a:t>TEŞEKKÜRLER</a:t>
            </a:r>
            <a:endParaRPr lang="en-US" sz="1400" dirty="0">
              <a:solidFill>
                <a:srgbClr val="F2E8DC"/>
              </a:solidFill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91BBDC2A-3825-44A6-648C-2C852C0A26AB}"/>
              </a:ext>
            </a:extLst>
          </p:cNvPr>
          <p:cNvSpPr/>
          <p:nvPr/>
        </p:nvSpPr>
        <p:spPr>
          <a:xfrm>
            <a:off x="929640" y="5905901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1400" i="1" dirty="0">
                <a:solidFill>
                  <a:srgbClr val="F2E8DC"/>
                </a:solidFill>
                <a:latin typeface="Georgia" pitchFamily="34" charset="0"/>
              </a:rPr>
              <a:t>Burak Koşar – 030123037                                                                                                                            İsmail Berk Kanca - 030123061</a:t>
            </a:r>
            <a:endParaRPr lang="en-US" sz="1400" dirty="0">
              <a:solidFill>
                <a:srgbClr val="F2E8DC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B2E3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F7720F-FDF5-5A8E-F1C3-75FA96591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FB66E09-50FD-876E-CEE3-4C76CCAE73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0040" y="320040"/>
            <a:ext cx="11548872" cy="6217920"/>
          </a:xfrm>
          <a:prstGeom prst="rect">
            <a:avLst/>
          </a:prstGeom>
          <a:solidFill>
            <a:srgbClr val="8B2E3C"/>
          </a:solidFill>
          <a:ln w="12700">
            <a:solidFill>
              <a:srgbClr val="F2E8DC"/>
            </a:solidFill>
            <a:prstDash val="solid"/>
          </a:ln>
        </p:spPr>
        <p:txBody>
          <a:bodyPr/>
          <a:lstStyle/>
          <a:p>
            <a:endParaRPr lang="tr-TR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6037F200-17E9-E373-458C-1EE336B897B9}"/>
              </a:ext>
            </a:extLst>
          </p:cNvPr>
          <p:cNvSpPr/>
          <p:nvPr/>
        </p:nvSpPr>
        <p:spPr>
          <a:xfrm>
            <a:off x="829559" y="211411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3400" b="1" dirty="0">
                <a:solidFill>
                  <a:srgbClr val="F2E8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 Açık Kaynak Linki</a:t>
            </a:r>
            <a:endParaRPr lang="en-US" sz="3400" dirty="0"/>
          </a:p>
        </p:txBody>
      </p:sp>
      <p:sp>
        <p:nvSpPr>
          <p:cNvPr id="22" name="Metin kutusu 21">
            <a:extLst>
              <a:ext uri="{FF2B5EF4-FFF2-40B4-BE49-F238E27FC236}">
                <a16:creationId xmlns:a16="http://schemas.microsoft.com/office/drawing/2014/main" id="{5F9F2662-50D2-DBE9-1805-B782512099AE}"/>
              </a:ext>
            </a:extLst>
          </p:cNvPr>
          <p:cNvSpPr txBox="1"/>
          <p:nvPr/>
        </p:nvSpPr>
        <p:spPr>
          <a:xfrm>
            <a:off x="3173408" y="3429000"/>
            <a:ext cx="564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>
                <a:solidFill>
                  <a:srgbClr val="F2E8DC"/>
                </a:solidFill>
              </a:rPr>
              <a:t>https://github.com/Burak-Kosar/MakineOgrenmesiProjesi</a:t>
            </a:r>
          </a:p>
        </p:txBody>
      </p:sp>
    </p:spTree>
    <p:extLst>
      <p:ext uri="{BB962C8B-B14F-4D97-AF65-F5344CB8AC3E}">
        <p14:creationId xmlns:p14="http://schemas.microsoft.com/office/powerpoint/2010/main" val="3886582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1154</Words>
  <Application>Microsoft Office PowerPoint</Application>
  <PresentationFormat>Geniş ekran</PresentationFormat>
  <Paragraphs>202</Paragraphs>
  <Slides>11</Slides>
  <Notes>11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Georgia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Kalp Hastaligi Tahmin Sistemi</dc:title>
  <dc:subject>PptxGenJS Presentation</dc:subject>
  <dc:creator>BIM 322 Projesi</dc:creator>
  <cp:lastModifiedBy>BURAK KOŞAR</cp:lastModifiedBy>
  <cp:revision>21</cp:revision>
  <dcterms:created xsi:type="dcterms:W3CDTF">2026-05-15T19:44:50Z</dcterms:created>
  <dcterms:modified xsi:type="dcterms:W3CDTF">2026-05-17T16:05:09Z</dcterms:modified>
</cp:coreProperties>
</file>